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457" r:id="rId6"/>
    <p:sldId id="476" r:id="rId7"/>
    <p:sldId id="465" r:id="rId8"/>
    <p:sldId id="478" r:id="rId9"/>
    <p:sldId id="475" r:id="rId10"/>
    <p:sldId id="458" r:id="rId11"/>
    <p:sldId id="472" r:id="rId12"/>
    <p:sldId id="469" r:id="rId13"/>
    <p:sldId id="470" r:id="rId14"/>
    <p:sldId id="471" r:id="rId15"/>
    <p:sldId id="481" r:id="rId16"/>
    <p:sldId id="473" r:id="rId17"/>
    <p:sldId id="474" r:id="rId18"/>
    <p:sldId id="479" r:id="rId19"/>
    <p:sldId id="480" r:id="rId20"/>
    <p:sldId id="28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howGuide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IN"/>
              <a:t>Click to edit the notes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32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IN"/>
              <a:t>&lt;header&gt;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dt"/>
          </p:nvPr>
        </p:nvSpPr>
        <p:spPr>
          <a:xfrm>
            <a:off x="4279320" y="0"/>
            <a:ext cx="328032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/>
            <a:r>
              <a:rPr lang="en-IN"/>
              <a:t>&lt;date/time&gt;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32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r>
              <a:rPr lang="en-IN"/>
              <a:t>&lt;footer&gt;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pPr algn="r"/>
            <a:fld id="{51811100-C181-4161-81E1-C1B1D191B141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49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1216171-A131-4111-8101-11D1D10191D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11131C1-D111-41A1-81D1-3111B1E131A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FF696-95A6-2E3D-F184-06998254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>
            <a:extLst>
              <a:ext uri="{FF2B5EF4-FFF2-40B4-BE49-F238E27FC236}">
                <a16:creationId xmlns:a16="http://schemas.microsoft.com/office/drawing/2014/main" id="{2663E4F5-7E61-C136-BE63-36E391D9751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>
            <a:extLst>
              <a:ext uri="{FF2B5EF4-FFF2-40B4-BE49-F238E27FC236}">
                <a16:creationId xmlns:a16="http://schemas.microsoft.com/office/drawing/2014/main" id="{BF81002B-5943-4AF0-F2B4-CB9A51B00145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3629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C5764-75C0-73F4-F1ED-FA89ABBD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>
            <a:extLst>
              <a:ext uri="{FF2B5EF4-FFF2-40B4-BE49-F238E27FC236}">
                <a16:creationId xmlns:a16="http://schemas.microsoft.com/office/drawing/2014/main" id="{A6429405-6D6A-B622-42F1-847FA111BC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>
            <a:extLst>
              <a:ext uri="{FF2B5EF4-FFF2-40B4-BE49-F238E27FC236}">
                <a16:creationId xmlns:a16="http://schemas.microsoft.com/office/drawing/2014/main" id="{2B04EAD2-9878-AC4E-E4A1-73862458338C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4596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5F8B2-6E8E-7B88-1ECC-D2ED28F6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>
            <a:extLst>
              <a:ext uri="{FF2B5EF4-FFF2-40B4-BE49-F238E27FC236}">
                <a16:creationId xmlns:a16="http://schemas.microsoft.com/office/drawing/2014/main" id="{D9212228-DFDD-2B56-8C25-8AB7779FAE4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>
            <a:extLst>
              <a:ext uri="{FF2B5EF4-FFF2-40B4-BE49-F238E27FC236}">
                <a16:creationId xmlns:a16="http://schemas.microsoft.com/office/drawing/2014/main" id="{56122D5C-AA77-BD5C-9850-3EB2BBA8263C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036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BFEB-0D2F-3E59-D337-09BF8462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>
            <a:extLst>
              <a:ext uri="{FF2B5EF4-FFF2-40B4-BE49-F238E27FC236}">
                <a16:creationId xmlns:a16="http://schemas.microsoft.com/office/drawing/2014/main" id="{D9AB4D90-640A-CB91-4220-375F44994C4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>
            <a:extLst>
              <a:ext uri="{FF2B5EF4-FFF2-40B4-BE49-F238E27FC236}">
                <a16:creationId xmlns:a16="http://schemas.microsoft.com/office/drawing/2014/main" id="{E954B2C2-5CF9-5570-FCAA-CA844836D5DA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648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3394-4BDF-3551-C393-6AD274F9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>
            <a:extLst>
              <a:ext uri="{FF2B5EF4-FFF2-40B4-BE49-F238E27FC236}">
                <a16:creationId xmlns:a16="http://schemas.microsoft.com/office/drawing/2014/main" id="{F0AE4A10-0BB6-DCDA-6C42-76DEB82EBDB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>
            <a:extLst>
              <a:ext uri="{FF2B5EF4-FFF2-40B4-BE49-F238E27FC236}">
                <a16:creationId xmlns:a16="http://schemas.microsoft.com/office/drawing/2014/main" id="{D074DBEC-EE13-3E2F-7E9C-A2EDF12AEDCE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8766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2DD1D-5E1C-0A82-F145-D3560251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>
            <a:extLst>
              <a:ext uri="{FF2B5EF4-FFF2-40B4-BE49-F238E27FC236}">
                <a16:creationId xmlns:a16="http://schemas.microsoft.com/office/drawing/2014/main" id="{5FFAB7A9-E9D9-4571-D138-B9ED21CB7B5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>
            <a:extLst>
              <a:ext uri="{FF2B5EF4-FFF2-40B4-BE49-F238E27FC236}">
                <a16:creationId xmlns:a16="http://schemas.microsoft.com/office/drawing/2014/main" id="{5A8F35DD-FBEB-F75E-BACA-CE88E8F11E08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18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310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046360" cy="39772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1680" cy="34509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992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1360"/>
            <a:ext cx="804564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1360"/>
            <a:ext cx="80463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992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5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r>
              <a:rPr lang="en-IN"/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IN"/>
              <a:t>Click to edit the outline text format</a:t>
            </a:r>
          </a:p>
          <a:p>
            <a:pPr lvl="1">
              <a:buSzPct val="75000"/>
              <a:buFont typeface="StarSymbol"/>
              <a:buChar char=""/>
            </a:pPr>
            <a:r>
              <a:rPr lang="en-IN"/>
              <a:t>Second Outline Level</a:t>
            </a:r>
          </a:p>
          <a:p>
            <a:pPr lvl="2">
              <a:buSzPct val="45000"/>
              <a:buFont typeface="StarSymbol"/>
              <a:buChar char=""/>
            </a:pPr>
            <a:r>
              <a:rPr lang="en-IN"/>
              <a:t>Third Outline Level</a:t>
            </a:r>
          </a:p>
          <a:p>
            <a:pPr lvl="3">
              <a:buSzPct val="75000"/>
              <a:buFont typeface="StarSymbol"/>
              <a:buChar char=""/>
            </a:pPr>
            <a:r>
              <a:rPr lang="en-IN"/>
              <a:t>Fourth Outline Level</a:t>
            </a:r>
          </a:p>
          <a:p>
            <a:pPr lvl="4">
              <a:buSzPct val="45000"/>
              <a:buFont typeface="StarSymbol"/>
              <a:buChar char=""/>
            </a:pPr>
            <a:r>
              <a:rPr lang="en-IN"/>
              <a:t>Fifth Outline Level</a:t>
            </a:r>
          </a:p>
          <a:p>
            <a:pPr lvl="5">
              <a:buSzPct val="45000"/>
              <a:buFont typeface="StarSymbol"/>
              <a:buChar char=""/>
            </a:pPr>
            <a:r>
              <a:rPr lang="en-IN"/>
              <a:t>Sixth Outline Level</a:t>
            </a:r>
          </a:p>
          <a:p>
            <a:pPr lvl="6">
              <a:buSzPct val="45000"/>
              <a:buFont typeface="StarSymbol"/>
              <a:buChar char=""/>
            </a:pPr>
            <a:r>
              <a:rPr lang="en-IN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eric.ed.gov/fulltext/EJ1318705.pdf" TargetMode="External"/><Relationship Id="rId2" Type="http://schemas.openxmlformats.org/officeDocument/2006/relationships/hyperlink" Target="https://drive.google.com/file/d/1csyA90U_RyBU1300TS4M7qf_uxDIVkHd/view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ijarsct.co.in/Paper23904.pdf" TargetMode="External"/><Relationship Id="rId5" Type="http://schemas.openxmlformats.org/officeDocument/2006/relationships/hyperlink" Target="https://www.irjmets.com/uploadedfiles/paper/issue_3_march_2022/20476/final/fin_irjmets1649056741.pdf" TargetMode="External"/><Relationship Id="rId4" Type="http://schemas.openxmlformats.org/officeDocument/2006/relationships/hyperlink" Target="https://ijarsct.co.in/Paper17841.pdf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47800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Career Guidance System For Students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0" y="3122442"/>
            <a:ext cx="50292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Name of the student: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b="1" dirty="0"/>
              <a:t>A. Yuva Venkat – 22H51A6603</a:t>
            </a:r>
          </a:p>
          <a:p>
            <a:r>
              <a:rPr lang="en-US" b="1" dirty="0"/>
              <a:t>P. Jayanth Kumar – 22H55A6645</a:t>
            </a:r>
          </a:p>
          <a:p>
            <a:r>
              <a:rPr lang="en-US" b="1" dirty="0"/>
              <a:t>G. Vaishnavi – 23H55A6609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072" y="4739163"/>
            <a:ext cx="5181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4135" lvl="0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="1" dirty="0">
                <a:solidFill>
                  <a:srgbClr val="C00000"/>
                </a:solidFill>
              </a:rPr>
              <a:t>Under esteemed guidance of</a:t>
            </a:r>
          </a:p>
          <a:p>
            <a:r>
              <a:rPr lang="en-US" sz="2000" b="1" dirty="0"/>
              <a:t>Mrs. K. Anusha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228600"/>
          <a:ext cx="7010400" cy="95119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01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CMR COLLEGE OF ENGINEERING &amp; TECHNOLOGY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alibri" panose="020F0502020204030204"/>
                      </a:endParaRPr>
                    </a:p>
                  </a:txBody>
                  <a:tcPr marL="9199" marR="9199" marT="6133" marB="6133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Kandlakoya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Medchal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, Hyderabad - 501401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9199" marR="9199" marT="6133" marB="6133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Department of Computer Science and Engineering-(AI&amp;ML)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9199" marR="9199" marT="6133" marB="6133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22" name="AutoShape 2" descr="data:image/png;base64,iVBORw0KGgoAAAANSUhEUgAAAEwAAABNCAYAAAAMy4KOAAAAAXNSR0IArs4c6QAAIABJREFUeF7tvAezG1eW5/lLB48H4HnDRyuKIiWR8iVHUa5LrlS+a6Z7tmNntmc+205P9O5GlXyVRIqkbMmXRO+e9wYeSL9xTiZIVmxsxHyAASP1BCCRee//HvM/5qYRx3HM/3r9TyNgCGDR/+f0GPmHHvIa/DX0nYGBwhzL/4FhJH/ls+RzOUdP1FcUh0RxhGEZmKZFLF9EoR4mAQYRxB74fXB7yXd2Bpws2Dk9QsNBzo707gaWARYhRhySrLlJjJXedDDOuyYmpxgxhg54MLfo7+aZfConyLWM9P/1B3ohR38ax3GQ4nFH1ORCIbExgDL5xlCADEEIYhNB2pR/A8CiZK4yflNua8oAYvwwICTAtA0sO6MDiUIfM+hjRy4mLoQt4vY2UWOL2HMx8yXM0jAUh6EwjGcVcSOHAAvDMMmYMVl8rMgjFtBwiMgQx5YupJkOc7DuMiaFwJSFi4mNAOR3OscEOJllhCyoTaSLI9dKFxgoyTUFsFDRT+VIsYmIDRnEHQlLoUrXVyTMVGDkczOBUVc6jtLVlYvrlVIJE9kQsRAJE0kMPczQxQ57GEGbuLuFt71Me2OJwO1RqAyTH5nEqk5hVKYIs1X8OIMXy2QMbCMBzI59nTiGTWw4xLJUcTIiESS9lwxCpTDCECkT0MwIDPndHW3S0xSoBDC9lgIoUENxIGGRXDRVIb2J/EuRv1tbB8Ak6A7U8rbmpSNLkFLRH6ipam8i4vJX7xb5mJGL5Teht0u4u0R79Qa7K3O4/S6lao3KxB5y4wewxw8QFycIjTxu7BCKBKk8BdgDlRY4DJVrTFXNRNKIBuOU1U2VzkiASwAT4JLPVfJT1RawkkMAS/DJDwCTFbgNWCpVcq/k0zuKOpAyBSuKE4lKfYbaIV1BMFQf7kLLsIhNmyhOzpKvzTjAiMRm7UBzFXf1GruLl9lauk6316ZQGmJkej/VvUfJ7TmGUZ0ltkp45PBjE6IIOw7IiLQYEVEcqK0UdbUMG0MtjoAmEpeuXrpWiZGVkQhgKWgpYANbeAcwAS1BIXsbMLE7inKi5wqV6usdw50oX2rEBawoWRkFKNX+mEAHIoAktxDbICucUXkII1n5GMuMMY0AU1SxvYa/NUd3+RKtlau0NxZx3Q5mJkd5dIba3qOU9j6ANX4P5EcJzSJ+7OiCidF3VFoELI8IX8djKmAZtT/ENob8FfVS26s2IjEWKl2DQ0BMDPzfgzUw/ncZfTFiA3s1AOUOVqm0DOwUMZGAJV5PxyBnir0LCGNPTDymIYAkKqA3j/NEUYFIAItjLCvEkvO8OuHuPN3Vq3SWLtBbv0HQWCcMXELTIluZYGj6XgUsM3UfVmUPcbZKYGSJIlG9CNsQLxsQ0SOkn1pNAcmB2MEko4dhqI9TnBKjLbZsoKapWopGp94xMSGJdKrnNECWQY0+gUw4Af/vABNxVruTfK4SLYskOqzGUyRMKINPEHbxgi5h3FdAbKUQ8kO5TRniCmFoqWRaZoAddTF7m3jr12ksXqC9dIFwZx7HbWAQEhkW5KvYI/vJTd2napkbO4g1NEVkldSDJVMSwES6OgSx3N9X1Y8jByPOYpPHtgpYRlYlTc1P6uXuLHgqZQpYaohSabsbMMuwBoAFiYQNDNkAHtX9u/R/4ElT6RHbEePiBh3a3V3a3R3coIVlB2SyJpmsjW3nyVgjZM1RDGTQYBlCKdrQWqG3fIXG/I90ly5iNpfIBR0c2yAybHy7iF+cwBq7h/zeByjPHCEzug+cIURGxWaBRxj36Hk7dNw6ftAnDEUSsmSsMvlMjUK2Rs4pYRmZxIvLz+62NmrTQjGsifEfSM1tJ5WcbxqyCCphfnLibcAGhvIuwAbSpQ5SJEskLNTBtvs7bNdX2a6v0OltY1geuaJNrpghlylSzE5QdKbI2SUc08YxQgy/SbizSGfhIs25H+kvXybTXqMQd8k7NrGVoRtnaDtVotp+CvsfpHrgAfKTByFbwYvB8/sEUR83bNPorlNvb9Bze0SB0I4ixdwo1fIUtdIkpVwNx8wnPC1hE7e1KeFHd2zZwJ4ntvw2ephGJgEsjry/B0yNZaKOd7/US8cxoRK+EMuO1XY0u5usbs2xsnGT3dYqAR2yeYO8AJYrUMyOUclPUS2OUsmVKVomhtvE31ygPXeZ1twFwtXr5LpblOiRdxxiK0srMKkbBfzaLKVDJxi+9ziFqYOE2RItv0ejVafTa9L1m9S76+y2Nun2+8SBTc6uUqvMMDlygPHaXiqFMTJmkTiylVxbQq7NO44s8ZyppN3FDu5Im0iYaIi+BoClEqVgCWgp30tRS7x5hBf6auRtR+7q0upvsbJ1g4W1q6zvzuMGDaxsSDZn4NgZsvYQQ/lxxoYmGa+MUsvmyfg9vLVFmjcu0Vu4irm1SLG3SzHuk3NssLK0A5MdI4dbnaF06AFq9x0nNzVLz7LZ6jbY2tmg3tqm4zXphk26bodu3yMOMxSzo4zV9jIzfpjJ4QNU8uM4RpEotAkDmZ1BxjZTL59OUB1YQo8GlOoOqboLsAgvlSWhAAkpVYZ7V2yo4imAxRGu76oLdzIxpuXT9rdY2b7B3OolVrZu0vV3wOpj2RLnCV/KUsrWGK9MMD0yxUS5SjkGd3WZxpWL+Mvz5JqblPsNCqFLxjQx7SzdyGLbzNGrTlI8eJTqkaNY4xPUY5+V+gYbO2vsNjZpe00iJyI0DfpuTBxmKeXHmRzZz96JI0zUDlLOjGFTVMcjFsg2LLKOiSVSlqpnon1ilwegDZxAYttMcomE+bGbGEGNCZPQQoyjgCegCW3Ri6mWikqKG/fA9IiMfgLYznXmVy6xvjuHFzexMj6R6eK7PczQpOgUKToFavkqM7UJZkpVwvVNNn/6EWNjnRGvR9ltYffaGEGI5eTwrTx1p0CzWCOz/yDlQ4fwKiXWenXWWhv0/BZ9v0mj3yK0ILKz+IH8T4FyfkLVcc/YYcYr+yk5Aph4a4c4tDQecMw05tS5D/jkgPWLZ0g5aSqAtjqtOI57US+JvQy5gLjOFLA0K6HOIA13hEpEhISGS0yfkC7tYJu13ZvMr15ibecWXtTAyonc+wR+VwFwsHAik7JTYnZ4mgPDkxhbDdZ/vIC1scVY4FPxuti9LvgBhpXBs3M0FLAhMvsOUDy0j27BYbG9wXp7ndDoEtCl5XYJbYdYvGpgJ4DlEsBEJcdK+yjaY1iUE06WklkNbe+y1Amn/P8HLDMArBm2NYA2Dck8iHYnoN0JCNOUTSphyrvoK2CR0aMX7rDWnFPAljeu0/F3FLBMLsY0feKgT9yX9E1IyS6yd3iGA8Mz2Ds9Ni9exVjdZMT1qHku+TDACCVXYtLBounkaZeGyB0QwGbpFi0W2qust1bxjZZKeC/0IFMCq4Tr2cRBjpJI2OgBZsYOM1rcR8EUwEqYMmmloCJlhjKJQcQkvE7E4W6V1ARCGgXlBirZjDpJ1kEBS4JXASyJk5WppsxMLihUwlNWHZsusdFXidruLDG/foWF1SvUO+vEVp9MwSCbjTFil8DtEvd9ClaB2doeBSzbCti9fJNgaZ1yu0vN8ykro9ZMF60wpm5l6VarFA4eoHBghnYhZqG5wlpzGd9oJFIskzQLhJTwvQwWRSqlSSZHDzE1cohaYQ85s4ZJAYMcZizs39G5DuyX2uvb4dwgT5basPSk/G0Ji1OVVHKmGS7MWP47cI+aB0oSfRICCVkkAcswhTi2abjrLG+JHbvCxu6iciMnF5PLG1iWj+91CfsueSPPzPAe9g/PUOxB+/oivbkVsrt1Kp5PzbTJWhnNPDSCkF3LwR0eoXjwANm9EzSzgQK23lzCp47pBMSmQRjlCIICxAVyTpVhoRSjBxmvHmAoN4ljVBQsIbQiZRoySTSRusGBIqqESVIhjXsSapqQ2YKqcxzHLSQGTKVIk38GluaUkoyQedtdyroLI5ZQSn7TwzCEkvTpRbtstBZYWLnCysYcze4WkemRycbYGYm+XPx+n6yZY6a2h721aaq+hbu4TvvGIvH6BkOeS82wKGYLRKZNI4yoWw7B6BiFAwewpoZpWB4LrWU2Wiv4UR07I/bOwvcsAi9L1qlRLU8yMbKXidEDDJdmyVsjmJQgFqMtKpnV2NKQLMpdweBAGZMsjOZe/o64FgahUQNh+lEiRZprEmInaeABYKKaEoRJ3CY0OSCOXeKwi2G6GHaAb3RodlZZ27zF8votdhsb9CUbYfqYGQiNEM91cYwcU9VJ9lQmGCFLvFmnc2sBf3mJYq/LEFDI5MHJ0AyhnclhTEyT3buPoFZihz4r7XV2Oht4UR0nE2FbJkEfIs+hXBxjfGSWidF9jNT2UsxP4BhVjLhAHGVAYsxBMG46tzMUaVx+m7IKQxDxUIuUgioKrRJWl7SMhvGxSpOm3+Ikq6lZ8kHaMpLzJIUTEId9Yr+tKmlkImLLxXO32dldZn1rkZ36Ou1eHTfqE1oRvhHjej62mWW0NMJkaZgJO0+206M7v0h/YY5su0khDik4ST6/E1v08yWcmf3Y03voFrJsBl02uju03F28qEnGCclYJvRjzNChNjTO5Ng+xkb2UhqaIuOMYIh0RXkFS4NyyZXJKpqWJO9STmGm0pRkJ5IUdRJ23gEsTVHXBx/HcpoY3TuHIZIl6RwBS2NOoQtiIT1wW6qOZGKwfaKgidfdotXeotXdpdtv0nY7tEKPVuDRc30drIRHtUyeyUyRahjgrS7TXbiJ09wh4/VwpBhg5+hLsFwZIb/3MExMs2uZrPW71P02bixxZBvb9MnbJnksCmaOanGY4eoU5fIkTn4U0x6CuAhhLk0BZhOwlIWnXEnuZ1kJgGaSaRUkBKzbnD+GwiCn30gFUaRLTrfTQ5OzEnj5HgRCC0QNJZUSEAY94n6TWLKmttg1nyhsE/pNoqinxNaL+nT8Pu04oh1B25VzRCFschGMZ3KM2xBsrtJduonZ2MLsNTHCCOwsgZ3HHJmifOgYjEyxGYSsdjp0JLOaFXPcx8KjYEu+3aQQW+StPLlMGSdTUbAMs4yh3rGAYRUw7DyGncOyJEeWgiQSakk4ZoMptQFLnY7YMAUtdQy3ARM5GaQ7ErAE3wAzBSuW0le/C16HyO3ieT3cXpOw1wQBTMCKPYKgo+keiSHzBUfFtBeHuE4WN5Oj40e4bkjkhsTdPsOOzXTBIdpdo7N8k6i+QdjaIZYFkjJbtkx2YpbK4RMYtQnWO33WW1082yRXymKaHmbcp2CGFMIQpx9geBFRYBKFonp5DKOAaRYxrSJmpoSZLWFlimTyRex8EcMR9bTTsl6iqrFlaz5uIGWyfvIqivYmXjLN94hmGQJYiBl7GH6fuNskaO4QtLaJu3XCbp1+c4decwu/11BbBilgkvWwIk3rFIp5sE1c08SqDuMMT+CZWYLQROKY0A0oORmGcw5Rc4vW6hy93VU6O+v4bh8nk6MwVKM8tY/y/qOYxWEa3T6Nbo/IFM8rVqJN5DfJBD3MVou41SbqeQReRBhIpjcLRg6sPIaVx3QKmE4RK1ekUBulNDqBUxzCzBYwMkVQZyPjzhGZWc25Sa5RLLcImXBEBayRsl0x8I4CJmy7pwAFu+v0t5Zwt5eJWhta4YnaOwSdHUKvBWFPvacQWmXEtomTy+Bkc4SmAGZhDCWAxbkypuTEnDKWnSdXKJPPZon7bdqbyzQ2l9jaWKLf61Aolhgbn6Q2vY/c6CymmcVtd+h22/h+j0jiyN4WkVsn43cxOy1otcELiIJYk4hJjTFDbGY1v4aVI7ZyCowzNExxZIp8bZxcZQy7PIKRr6hU45SIrLwWjwP1lonxrwwA2xYTBGQMOWJswwdJ8O2u0lu9SWPpKt21G8TNVRx3l0LcIScpZjnCPoYmmIxEvG0RZ1srO25k0MOka2cIcmWs4jCFoUkqw7MMjezBqU1AXvhRjNvYYmNtjoWlm3S7LarVKvv3H2B0ai+GhD0dl7hRx2vv0q2v09xeoF1fAm+HfOySC3wyfohmnNTzJV5PQJNiXGjaBIYjlUw8I4Nn5bAKw5TGZ6lOHSQ/tg97aBwKNchViOwSoZETw5SSLqgOqkabokkmZPWIsaWY0d+lv7VIa/k6zaVruJu3MNrrZP1dClGbXNwjg4sT++pPNJNkmoSGvLszSM+0FTT5K6uXKYySL89Qqs6QG92DMzKJUSoThi6t+gbr64v0e20qlQpjU1MUh0ZUJ/zNbXorS3Q3l1R13fYqsb9FwepTzhhkxc74IUYQac5OVEkLGVI4NjOEVobAdBS0Pg7twCCwSwrY2N77GJo6iFObxpBKe6aigXwgJkT1LVFJ4Yiqkltu4lUdKb+LhAll6O/S216mtXJDQetvzkFrDcfdUcDy9MkbPlkplyF1wWSQfiTzMwlNyR6IKti4UaiH4RSwsiNY2XGc4iTZ4RlyE3txxiexilm8oEezuY3v9Sjm8xTKZS2Z+fU23aVl2otzuFtLRJ0NDH8bJ96l6LgUHQsztoj8mCiUqlZMqN0MFoYl48gQmhl8w8LFphdbdHxTARua3MfYvvuozhwiU5vWtgScMrGopKm19UEJQNhcasOEvGscGWmHggiu4bXxW9v0thborN6ivXaL/vYCRnuDbNihZPgUTJ+sqaaRKArxwwg/kNSiqaGN1BZNYeGhSxR62E4eOzuCb9ZwzQrkRsiP7aG8Zx+5qXEo55MWhUgiihgj8PG26zQWV9lZWKC/tUrWbVA2uxSMFna4DcEusS9VK5NQcl0S8lgOpiNHBsNJ7JeHRS+EThDRDSxCu0CuMk51ej/DM/dQmtiHVRmH3BBYBTBzhCpdYmISp3i78t3VzKrET9INE0jJFVs8n9chbG/jbS3TXZ+ns34Lb3cFOjs4QYdc7Cm4pvY3RISqClLxMYl10FlV9TjoaWeOLattDdGNy3TjIlFuhOLkXkYOHKK0dwajWiTUOFVKcSb0erRX1ti6tcjuwiL+zgZ5v82w4zJk9ciEO8TeLr7n4kkLgZVX7yb3lvhSq+2WSJej6ugbNp6AYOXIlEcYGt+jR35khkxlHCM/BLaAlU0cBdIxJJwsUcncwOhLGK3FjVBixCDpg5GoQY1Hh7i1jbu5QndjXm1If3eFuL2LFXSxhFZIPkrDpiR1KQNVwCw74cxBDzvoIXW9gCKdqEDXKBGVRilP72f04EFKe6aIyg7dyNUiSy6bwXQ92ivr7C6t0VxaJdzZIttrUKFHxeyRj5vg1/F8D9fI4jslQiubcCjDVMcjKiWgxU5OOZiRK2IWhiiNTFGd2qte0irW0nxaDqShxRCPKoClJDa1YZkBD3O1vUXskDB7aSgST5lEVFIkxesStXcJm1u4u+t0NhZwt1eJug0it03gdogkEtD2gaRDRwYtVzCjgEzoIv7GMS0t9XtWhagwjD08SXF6D4WZaYxqjnbUYaO5ST/0qJRKGlOaXdEjj2C3hb+xhbe+jFHfJOc1KdIma0jWN6JvOPSMHJ5IlDid2MCLUKmKnTyZYoVCdYzi8DjZ2hiFkXFy1THMQkXZvzQCJB1Jwv4zGJaEUFLXSNP0coadBt+uUAMtOUlCLekP0t4JiS0NIbE+hmRN3Q5hr4Hb2CCobyQgtsXVN/DkO18I7CANZyh+Ei1k4oCCeGCxadkKcXEEhkawqiPY1SHCUoYmXTa7G6zsrNLzuhQKOSqFMsPZCiO5KoUwQ7DbxltZxV9fwWzvkA1aOJHElAH92KAnqieSIelq0yGSw85h5kpkyzWKtXHyIxM41RGcQkJYhagaEltGpo5Xahmm5YAcaUYwyW7FWFJlEi/p+i0sy8IUQy0mPBLjHRKHofZISPOIJV0ypGkdtw3dBrR3iRo79Bs79BS0LkEgjSFp/6KkiGJpQzHI2w65fFFth1kbx6gOExcLBKbPjtdgubXMUn2BtfoqHSmGWCbVUoX9Y/u4Z+oeJorTGH2I13dwV1cJd7cxew2VfgnV+mGIL5ItUpnJYWUKCoiAZReGyJRrZIeGMSsjIFIl9jQyMCTFI4fY3kjSWxJ/20mcqaWypHQmdtWwpGdDOhD9enKSXETcs9ADdc9JJ45lGdhSYYkDgqBHT6Vql7jbIG43CNp1+p0mnsScUlazbTLZLJlMBtt2yGYKZDKFZHASngxVMSplJD3VdOust1ZYbMyx1lqg3tvS1gMpzxWzJWZHBbCj7KnuJx8VMJsBNDrEnQ6G1yP2ekpDwkikOzErsrRitwy5Z6ZInMkTZwqQK0JW3he0KuVkstjqmESaEkOVdJiljV2aHxzUGiUhkLYK+P0trNSrRbGFHxnCAZOOlaR3ib7r0Wk1aDd3aNW38XtNbOkglDDF7agdC6ReKVVS0XfHoVAoUK7UqI1OURKXbTh03YB2GBNkDOySRWD12eqssrRzjc32Io3+Jl6Y1BjymSJTw7Mcmryf2dphcnGR3lYPd7uNE8FQMU8+axNKb6zfI9asbo9Op0e906PZD5SoWoUh7OKQqmcvNHDDWOuepaEKlcowlaEhCrmszvV2NVGlLckPDlrAJIpJymyNZZxsHitbUM/Q92MloHbG0qKqF4QsbWxz4/p11hbnae6sa7tlOWeTd0TyfIzYJ5bcVr9Pp9MmDEPK5RLTs/s5cN8JpvcfwbZyrK1vcXNhiXqvQW2qwvhslba/w/L2VbY7i+y2lnD9NtlsjkKuzMjQNPsn7mdf5QgEDreuLLM6v0YlX+LIkXuZnp4Eqav22xqT9uo7rK2uceXWAtfnl2i6AeWRSUam9qjx36q32a43NSIZHZtg//6D3HPoANPjw+RtqZilPSlhhBnFONogmGYnrLR7p19fwc7ksCWXbti4IbjCljHpdfssr29w8co15m7dxOt1qZbyTI5VGa2WKGRMpXeWdL/EIc1Gg+WlRTY2N7RjenrvAY6deJyD9x0nkytyY26Fv379HXOLc0zNjvHIz45RHDLZbS9Q7yyx3VjE9VrksnkK+bIWM2bHjjGW289uvcsXn33HpQtXGKmO8Nyzz/DAsSMamRh+B8Pt0t7dYX5hka+//xtffvcDu12Xffcc5f6HHqNYHWVzt8ny2jqLK2t0un2mJiZ45OGHePj4MWbGhrURxhbUUsAkTT+oVUpDs0qY19q4o5KmdI6a9MOIRtdnbmGFv126zOUrV2i3WoyOVLn30H4O7p1hrFoiZ4t9k8a2pLGuUd/l5q2bzM/P0XNdRidmOHriUQ4feRAzV+DC1Vuc/ug8Fy78xOTkCC++/DSH753GsNq0uivUm6v4fodsJksuV6JSnmJ86CBONMyNhWU+/PA83//tAuNj47z5i9d46vGHyQrXi3rYvku7Ifef5/wXX3L6/KfstPsK1skX/4GJ6VkarS5Lq2v88NNFLl26rIH6Iw8d56VTJ3nw6CFGy0WtiBvS4ThIzSddxTjOoBnFbyuNiISH2FlM26EXRNxY2uLMp3/lk88+Y2t7mwMH9vPkzx7nkRMPsGe8Rjkj/aRJiX3QaywNISvrKywsLrBTr5PJF5g9eC97Zg8iDeY/XLjC6T+f5buvv6eQz/HyC8/w8ktPMjtToS/xq1vX/JrQOXEUhewIGavKVt3jq29/4vTHn3L56jUmpyf59W/f4LlnnqBoWUhDuhMG9Dod5hcXOffZF3x49hz1do+HH3+KV954kwOHDqlT2G52+PrbH3jvvfe5duUKszPTvPnqK7x46mn2TY2RNU2VMiuS2FRCNemdlfGkgBF0CULpJJQUTQ7DtNhodPjqh8u8+5cz/PDjBcqVIU4++xTPPP0E9+zfw1AhS8J8pY4nyhtjGVIfDGm0G2xub1FvNjT4Hh6fYGRknI4f8s23P/L+2x/x7Zc/IJ3fzz75M373m9d49MRBDMMnjPra5Ku9sHYG28zjujaXr63y8SdfcO6zz5lfmmd67xS/+w9v8vJLJ6nmCkl0Ig0ursviyiofn/+E9z/8iO16i8eefJo3f/0bjtx7SPlmq+9z8cpN3nn7XT49f45SPs+v3niN137+Igdnp3AMU22X+E4RJDX+ptRXBx2IYT/hXUJdnRxeGHF9cY2/nPmUd/5ymrX1TR56+CHefPM1Hnv4GCOVYkI30vgzkmBZ6IRpYZmWtkO1e11ava4mfnKFPMVCiXbf5fPPv+WP/9f7/PD1BcJeyIljD/Iffv9rXjr1CEMVaa9MO7HVx0vgbrC94/LXry/z4ZmzfP7N16xtrTCzf4J//Odf8dqrLzJWrSEJaWkACIKQ5bUNzpw7z1vvvsfmzi5PPPUMv/397zh25JDGthKE35xf5f33PuD9d9/Vytiv33ydN155mQOzU5ixoYBJNcoQwKSKpo0rgx7XyCPUTmoTwzLZanX58tuf+NO7f+GTz78kVyjwyzff5FdvvsLemVEcWyrjKQ+OQ8JIym4BlmViW1IVMPGiEC8MCSSgt2Icy6brepz9+Ev+/f98m+uX5wh7MdPj07z84ou8+spzHDw4SbmU9tOm9cBOJ2ZuYZsvvvqRTz7/gh8u/Mjm7hqTe0b47R9e5403X2ZmYhJb2ynFVkesrG9x5ux5/vT222xu7/DkM0/zj3/4PQ8eTgDrhjHXbi7y3rvvc/b0GUrFPL958xe89PxJZsZHtFQk2pKxkvZ6AU1Qy4oXTRrqZNJJ4Cw5rYW1TU6f/4K33vuAH/52ganpGf7lX/4Tb77+MrWhrF5Qy3FqvyRhFyShlClCIVtbpIwCvgT08r16UZNOt8df/nyO//t/vMfOZgsjlJ4em3sPH+aFF5/hZ088wPTMkE5KJNj1IzY2ely7vsKFi9e5ePkKl69dYXVjkepIgVffeF4BO7h/HxlbTD8EYcTq2janz57jrbcEsG2efuYp/vCH33P8yD1q0Nt+wN8uXuGD9//MpZ8usGd6ijdeeYXHHz3B8FBJN5bI/eVcbSoUcxXFFLIpD9OCpcQLKHdIAAAVHElEQVTdhvSNhly9ucAHH33MB3/5iKvXbnLw0EH+23/9V9545QXyjnpcBUvEVtvL0w1S0huqtfI08BbuG6Qd1yKR9WaTd989zbtvncaI8+SyJbY2t1UyH3/iIV559RRH799LPpvwoWbb49atLa5eXWB1dZvtHfGAt7g1dw0nG/HMyUd54xcvcfToveRzeU30eUHEyuompz8+z9tvvc3W9iZPP/0U//iH33L8yGEFodHr89W333HuzFmajSYPHDvK8ydPcvjgPnKOo+AI208EQiqNIUEYU8qlgEmDbSghhWHg+iFXrt1Se3H23HmuXb/F7Ows//X/+M/88rWXKDmJFAr4onxJRkO6EgZsJenISCJPQ72SeFJxKovL67z73hm++uonpib3UakOc/naVRYWbzGzb4xXXnuep559mInhYWX6azu7XLo4x41ry9hGgVy2zK0bt/juu6/pdRscP36Y115/gccefZBKuai5dzeIWFzZ5MyZc7z91ltsbKzx6GOP8MtfvMGRw4c00SnAX7l8iYW5OUaGh3noxAmO3Xsvw1Up+srGsUhNjqMhobgz8ZaQdVIb1tMuwwQwkbDL125x+uOzfPLJZ1y9dp3pqSn+9b/8Z379xiuaP9ftLwKLbG6QQzcJpCX2dHtMUgRNtp2IJHZ6fX68dJO/fPgJSytbPPDgCcYmJ/jy26/59IvzGBmfF15+ipdfPcW9hw7p9peF1RW++/YSc9dX2TO5n4Ozh7lxbY6zZ86xsbbMoYMzvP7685x85hFGakOSiKLnRywtb3L27HneffcdVleWOHr0CC8+/zyzs3vodFqsra6ytrKEY1kK1sMnjjMxOobj2JqxSCr9iaF3xD6kH2XtNEXdTT+QxgvxMlduzPPRmbOc/+RTLl++zMTYGP/tX/+V37z5GqVsuptDq+KBXly9h17YTLusU7nTfjOUfgjD/uTLv3H23NeaYDz10kmm9kxz+pPz/Psf/52VzVs8+tSD/PJ3r/GzJ54gZ+W5Pn9Lmb0A9tgDj/Hk4z/j2sUF3vrjB8xdv87M5AhvvPE8P3/xSUZHq7oPpO9FLC9v8sknn/LB+++zuHCLvbN7eOSRhxmuVVlbW2FxYY5+t8vRI/fy+uuv8/D99+M4sr3ndlcqYSit9UIlkv44wbAwkLBOWgoXchaGEfMrG5z75DM+/Ogjfvzpb9Sqw/z2N7/hF2+8yvTEKBnb1qA0SWkn/EtTyqkKasUmbQGVa4qELW3ucPr8X/nq65+ojgzzwksnmdk7w5fffs87H7zL3y5+R7mW4+lnn+DUC6cYGxnnwoWLfP/tRUq5CieffoZ79h/g6sV53n7rz/z0/Q/kcw6vv/o8v/nly8xOjitgvi9Gf4ezZz/h7XfeZmV5kaNio049x9jYKEsL81y6eJHFxQVqlQovPH+KZ596munpKTIZW01H4Etay8RxhCYZ6kh8P2Y4n3rJQU5/kP7ZrDf469ff8t4HH/DV139V9E+dOsXrr7/G/UePMFQopH39g+7idGfuXRu47t6EI4DeWlnjvQ/PceHSNfYfOMALLz3LzN5pLl+9xblPP1G13Nxe58ChfZx87iSze2a5du0GSwurPHD0AZ57+kmGhoa4emmO99/7kC8//wLP7fPzfzjFf/rDr7hn7x7d7CCSsbq+w8dnzvOnt/7E2toqTzzxGL/4xevqDZeWlvjhhx/5/vvvNNS7//5jPHfyJA8+8ADjo1p51C4jibgzjq0SJtf0g5ixAWB9KYeHA2ph0nX76sIFsDNnz1BvNLj//vv51a9/xamTzzJeq93pZtdaQEQshlLslWWrsRRJDiNppEtasK/OL/DHd97j1twiJx46walTzzCzZ1Ind+HSZc6e+5hvv/1Ws5oPPvigAtbpdMnlcpx85iQP338YL4q5euUmpz/8mPPnz7G1tcXzp07xX/7lP3LsngPqjGQs62s7nD5zVgHb3t7h+VMn+af/+FsOH9zP1k6THy9e4ezHH/Pdd99quPPII49w6rmTnDh+lGqxQD8IcYMkvyXzkcqXeMvaQCVlZVw/0KShZUseO2J5bY3PvviCDz78CxcvXaRUKvP0s8+qaB+55xCVao1cNqv2S6tFgYixQdayNK8k77vdnm40sDJZbiws8v/86U+sb2zy3HPPcfLZJ5kYH6HZlmzIOp9+9jkffvghq2urDNeGmZic5MD+/Tz44AM8fOIEe8aHdSJz8yucO3uOjz76kOWlZZ5+6mn+93/5Zx46dq9OyvdDtWGnz3zM2++8w+7uLs89+yz/9E+/54Ejh3C9gPmVdb759ns+/+xz5ubnyOdzavwl9Hvgvns1LSWL7eliW7rRTI7yoAjix2IsfQLZaWY7OBY0uz2uXr/ORx+f4dz582xubbFn7yyPPfqYGtCDhw4xNjyivEVecgMBTOyVkFgBq75Tp93tkSsNMb+ywh/feotWu82rr77Ks089wWh1CC+KaHddvvrue/701lt88803eJ7H5OQk//Dyy/z85y9zYO8e3R0i525s7PDJ+U955923uXHjFo89+ij/2z//E088/CA5y0oAWVjl9OmPef+D99jdrfPUk8LDfsfD9x9RuyRNLfPzy/z1r19x/pPz3Jq7xfjYGCdPPsupk89wz75Zsvk8vhZAzCTjrC1VqZd0/YSRyxKZYrzTILrZavHT5ct8fO4cX3/zDVs7OwwP1zh+/DiPPvoo9xy6h7HhYU3FJBsDDA2R2q0225vbbG9v4wcBleFR1re3+fNHH6nqi2d64vFHGalIG7g42pjLc/O88977/PkvH2pmRNj/7377G1588RS1gnRIJ3nPbrvL+U8+57//j//OpUuXuP/Y/fzhd7/jhWefYrRSptf3uX5zidNnzvDhR39hd2dXVe6Xv/oljz18nEpZ9m1G9LouN+bm+OjMx5w9d1bP27tvH08/9SSPP/ooB/bvpTA0lEYuyYb/24D1vXTvo5lQUPEKg4czbO/u8tPFS3z59VdcuXqFbrdLtVbj4MGDHDp4iPHRUc3dS+hjW5ay4ka9roD1ez2NQ2sjo2zt1vnq2280E3Lq+VOcOHGcsWHZlmervVvbrfP5X7/mz3/+s6rtiePHee3Vn/PAsft0X5BogRRG/L7Lp19+xb/9278p5dm3dx8vvfA8zz39FDMT4yphN+cW+eLzz/nss89oNJscO3aUl156iYcfOs7IcFWNuSzUdr3BN9/9wKeffsq1a9fUtOzdu5fjDz7I0fvuZWpmmnKpTE7S15ZsnBlImBep2Mmuf8la9FxP9yLms9KpZ7LdaHDh0iV+uniBxYUFlQDxnFNTk9SqNVVFoRW5rLR1Q7NeV9AEyMmpaSq1mgJ249YtnGxWjf6R++5jYnyMUiGHbRipfVpM1H9zS9n5E48+QqVcVvsqKp/LOIS+x1ff/cBbb73FzRs3GK7WOHr0KI89/Ah79+zR1Pjy8go//vgjP/30ky7wgYP7ePzxxzl67Bhjo6Oah8vYFn4Ysrq2oYlEOX9+fp4gDJiZ2cN9R+7lnsP3MDk5Qa1aUdNz57kVKUkTWyQXETWScMByxONZBIGvoEkgK55pcWGReqNORuyX7Ft0XVXlcrGkn7ndHv1+j/LQEHv2zJIvFhWw7Z0dLMdhZs+MHiMjI1p8EMCl7tfqdHXwjVaTw/ccZlby9aaJL1tppPc54xAFAdfn5vjxbz+yvbWl2ZFyucz05CTjo2Oas2o0GiwtLrG8sqxEfGJijIMHDzA9Pa3URDyvSJkh/Wt9V+3cyuoKS4uL7OzuagFHONv09Axj42MKWD6b0TxZul8y2aWm4VHaoy72TJi/TEbE148jvCDQFVtfX1fvE/gBrtvH7cm2ZYtioUg2k9GCru/7lEolxsfHsaWFXJrh+n3teSiVi9r/JROVcEQ3helO6oj1zU08z9XflXI53DRTIBKcLF7Atqr8pk5WJEoO0YahoTJZJ6NOQ1Sx1Up6K8vp/UrlUgpWRu8rmRVZcQG1026zs7tDfVd29QbkczmGKkMUiyWKRSkTyh7MNKcvhUg5SXRYJEXqihLTKDcLfK1lWrath3rEMNR+BhmY2+8TBoGudDab1d+Kl5TP5FrymdQ8BYxQW6KS7KWsooCcbPqSvJMUjwM9VL1zOf1MFkkkwUlKXCptMk45RxbT83y6sqFLVDab1QUTBxREkpJJwjblUbIoei/Z8icMfrCXarDTPanDyoIIlxvsPxIV1UqSZVDKl9Ino/hSoA0UoMGzFwR1fR8L1UjAkEsLSINnVSRPF0hiriRATW4koOkENVQS75sEsLookpmVVG/K3yRol9SM73s0Gk3lgSIpMinXcxUgaWqRcEykQd7LJASIjLQzGYZKs0i7fGbL5tQ0JSPX1gUUKfJ9BcK2LS0uS2JQ0unyXiRNGnFkbklNVQrQdiIYnqd2XOxxPldIK9+ed5t8SrpP0hsyOQVA0jiOo6Iuk+/3XZUKmZAiL02/4h1FZT1ffyMXl9WW7+UzfSqBTCxIwNYBx8k95PNSsaRquL29q3aqNlzVjScCmIxFpVval+KQQDsMk6KEI5zRdvTevvS2ysOPNKZNXom2JGMbqK8AoWCIgAQhmWwCjtjpBDCxlZnEXoaRapLMVc7LSvOwbvmWLcnag5L0eKnkyCt9CFEiQGKYEzsnYp1IVbpHQvrB5Ldqb8TjWomEGYlaa4wqbcOhn6qXgJ9IsGyQktYmkXDhb6rGuax6RWFeMhmhInJvSYXrc3XSR0HoQ5FExSxTpUdAUGcl4YyZbk9OibRIYbJYIoGSxkoWTzRHJEqur+ootY1YSmrJNcSUJFpj4UjrgSaopVXprg3x2iMqT2RKJUBWUTsJxcb4iY2Ri8nKycWTtPSdB4LIuXKOVip1JZMu0WSXinTJJODKS5rsJH5M7J6ArXlutY2SGhbplusnAItEWrr6Kjn6NKnkOToC3sAByNicjKOSMZiL2rNU+gaPwBHbOPhs8EigwXcDoZFzxD6LqbCstMwmhl0nJBIljb1hqPmibqerdqFQLKqY9t2+Mm0BQ8VYG/BkRa1kYtIBZJn6V64lDF5sk0xeMnIiOTIzCarFpshvJPgdSKqocUba1cOQdrNJv9+/7YTE9vmBPHXFpFAqUSwUtOnXE08p49f7RXhuIjm5fE7bDeQ+4sllTGI7B6Bqo0wmo5RIpE8WShZGNcM06fV6ahdlzPlCQZ2UKX1jqpKpR9EOMSmTiT3Z2mZrc0N5lqRxhSJIqLS1samyKN5InwsWRXox6dYRgyvqIPxNgJPB9Xpd2u2WJhKlM1oGt7WxofXDQr6gDStifOV3cp9arabSJnxvZ2dHVU3sh4AgNk0kqVKpMjI6rPcRNe52OonaR7IYHbVFQiGqlareX+iFqJ44CbmvLHS5PEShkFdHI70gYlcFUEkyFApF5ZlyLaE/whcVtGx+UDVK2jXFOou0yIpIQ4cQOVGpibFxKkMVGo06a2trWn+UicqKC01wxEhKi6X2mJkpYAlnksE0mw0c22J0dATf81helM0LQmzLOkCxJyL2kxMTmqWQ/JmQXOF7MsFsToISdAIiMdXasFa+ZZGEpMqRPCssptls0ut2laCOjI4qvxLOWCwWlVt1ez29piyM8EBZFAF0QHOq1RpyyG/k89HRUSYmJpR827cr36nLl5UVVROxXlleZv7WnF5cUtQSgkiFZW19TaVrqFxOeFocKWB2JnkYkMSiprhqEX8x5J12GiY5TE1NEHg+83NzOqkBeZV7iNQKE5+antbry8TX1taVY+Xz8kQTtNFF3ldrVWZmZ8nnCzqx3d2dZIt1DLv1uoKkff5jozQbLQVfqIpoiYAu5LtWG6ZSGboNmKio2Ff5fHR0TIWj1WozMTHO2Pg4ubxsvxmU2fSxLL6qghhUSQbubO8oaGIjBKxqpaL6noREGQr5vKqc2BEnlS5N5Yph1kqbGOqYXq+jsaUYaUnZCF9YW1ml77ral1UqFjUVJG59uFZjZHRMUysidbtbEsB31YYKYLv1ZNVLQ2UFN5cv6HuZnKiTpJMb9QadbkdVTqRIgK/XGwqg5LnkXgJosVTS96LSYpvFsUkcLRX64ZFhXVAZo4xJzlWSLZ5XOxAlWSZ8KY7IZmTzuKHGXUATaSsXi7o6YiMkRhwYffVQUu3OJgRSWLlMVDmQuG8pxnou7WZDrykqKb8VNRBvWy4VNWDvdUVN+qrmQ5WKAqaxZUPaQF0FTF4iPa1WU+2JhE7ZXJ5ev6tSo5lRKdK2W+os5DflUol2u6OHqJ/MQXik2DzxoiK5Yu8kwyK2W76TDp1qVWytpwDKb0TrxKGIjU56XAMJuCXjFJF1EuMnfER6w8RTCMsWoykEUrlYICFT6iGFVIo6ahE4IX9CJ8Qgi5SJHet12vo7yTzISokHEmmWtInYDrfbTxbCtnUSYpvE64mnlt+rOpimSlO321HeJOospkAkM/Fy4pnR64idUyOfzdLv9VUYZDFyElEEoUptwui13SThlbInqttVSS6VRKKTuFpUVb2v51EopjzMFbIq5WwhdppilvbrWO1NFCTxmHwudinxRpLDl5SjPErGUpulJbowIX+aiJQJiKeU+EwYdByREzshZNAXGpOEUEITNFhPY887MaaB77qJF85kVHpE2mVRBBwBRK4lCyFHwqeExsgmiyTVLlIjbF48raicSorUIFKCq+RW+XnCGRNKAln1ygnd1ihGY0x5llBKK9xB46sE2fr8iiQ21H6JdDuqdLQMYkb9LiWt2q4uZFP7MiRKSB5ZIIPR3WTa+y/SmzxNKSmRJ5xPJyk9WJGw6+Q3t+8hT5IK0gBaJi+TSld9QJIH5FI4lAbwgzENAvrkGQrp5AfBy93zSALvJHJICijaNGQlTxDVcUqBOn3Wo9jhpAMx5fkDT6MlIZGeNDRKtqqlD+FRA5UCmj4yV1ZIckC3n4uULFuaLtKnoSpVGEQGkp1VsOSSuijyeMA0ekhDs7sDeu3YELXRuDWRBpFksY9yH5FcWQxtG0/BkmEmsbCAmUQpg7AtabFPFkCOJJORNp4kuCp4g+hAH5s1yHYkvTt3AqP0qSn6o3RPUnKFFPE7X6TLcvvEwSML0jvq10nIoptD0ngyif/uGuDgEZ/awXxnNQfPObv7Gjr5dLGUsUvDgzSNpPZrcK90BLfBULojZuQuyR4syO2nhN71YLUE7L8Hc/B18oS6//X6n0bg/wW6N9HN0J3gT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30724" name="Picture 4" descr="CMR College of Pharmacy updated... - CMR College of Pharmac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152400"/>
            <a:ext cx="1292225" cy="1143000"/>
          </a:xfrm>
          <a:prstGeom prst="rect">
            <a:avLst/>
          </a:prstGeom>
          <a:noFill/>
        </p:spPr>
      </p:pic>
      <p:sp>
        <p:nvSpPr>
          <p:cNvPr id="30726" name="AutoShape 6" descr="CMRCET HYDERABAD - 2021 Admission Process, Ranking, Reviews, Affiliati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7975" y="3101882"/>
            <a:ext cx="502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Batch No.: </a:t>
            </a:r>
          </a:p>
          <a:p>
            <a:r>
              <a:rPr lang="en-US" sz="2000" b="1" dirty="0"/>
              <a:t>D-CSM-2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539" y="6229290"/>
            <a:ext cx="875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Batch: 2022-2026 			                     Major Project –I(A466803)/(A473803)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44" name="CustomShape 2"/>
          <p:cNvSpPr/>
          <p:nvPr/>
        </p:nvSpPr>
        <p:spPr>
          <a:xfrm>
            <a:off x="457200" y="45720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C00000"/>
                </a:solidFill>
              </a:rPr>
              <a:t>Outline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5" name="CustomShape 3"/>
          <p:cNvSpPr/>
          <p:nvPr/>
        </p:nvSpPr>
        <p:spPr>
          <a:xfrm>
            <a:off x="457200" y="1055516"/>
            <a:ext cx="8001000" cy="536616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 lang="en-IN" sz="20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Introduction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 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Methodology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  <a:endParaRPr lang="en-IN" sz="20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000000"/>
                </a:solidFill>
                <a:latin typeface="Calibri" panose="020F0502020204030204"/>
              </a:rPr>
              <a:t>	</a:t>
            </a:r>
            <a:endParaRPr dirty="0"/>
          </a:p>
          <a:p>
            <a:pPr>
              <a:lnSpc>
                <a:spcPct val="150000"/>
              </a:lnSpc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228600" y="4267200"/>
            <a:ext cx="8381520" cy="7548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47" name="CustomShape 2"/>
          <p:cNvSpPr/>
          <p:nvPr/>
        </p:nvSpPr>
        <p:spPr>
          <a:xfrm>
            <a:off x="-914400" y="3429000"/>
            <a:ext cx="1089660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/>
              </a:rPr>
              <a:t>I</a:t>
            </a:r>
            <a:r>
              <a:rPr lang="en-IN" sz="3200" b="1" dirty="0">
                <a:solidFill>
                  <a:srgbClr val="000000"/>
                </a:solidFill>
                <a:latin typeface="Arial Black" panose="020B0A04020102020204"/>
              </a:rPr>
              <a:t>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/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C00000"/>
                </a:solidFill>
              </a:rPr>
              <a:t>Introduction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4478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460090"/>
            <a:ext cx="8305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Career Guidance System for Students Using Machine Learning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an AI-based platform that assists students in selecting the most appropriate career path by analyzing their academic performance, skills, and interests.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are used to predict and recommend careers suited to each individual, reducing confusion and helping students make informed choices.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63BF-DD94-9736-D8A0-640A21FA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2F19EED8-155D-4764-FCD1-1CC990CCD7DB}"/>
              </a:ext>
            </a:extLst>
          </p:cNvPr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>
            <a:extLst>
              <a:ext uri="{FF2B5EF4-FFF2-40B4-BE49-F238E27FC236}">
                <a16:creationId xmlns:a16="http://schemas.microsoft.com/office/drawing/2014/main" id="{CB486C58-29CD-3C61-62E7-3C42DAE9882C}"/>
              </a:ext>
            </a:extLst>
          </p:cNvPr>
          <p:cNvSpPr/>
          <p:nvPr/>
        </p:nvSpPr>
        <p:spPr>
          <a:xfrm>
            <a:off x="457200" y="3574080"/>
            <a:ext cx="815256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Problem Statement </a:t>
            </a:r>
          </a:p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0C48E805-55AB-C5EA-B3C4-05B1454B051C}"/>
              </a:ext>
            </a:extLst>
          </p:cNvPr>
          <p:cNvSpPr/>
          <p:nvPr/>
        </p:nvSpPr>
        <p:spPr>
          <a:xfrm>
            <a:off x="685800" y="129528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2536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6852-DB34-702C-4263-9A91E2C9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>
            <a:extLst>
              <a:ext uri="{FF2B5EF4-FFF2-40B4-BE49-F238E27FC236}">
                <a16:creationId xmlns:a16="http://schemas.microsoft.com/office/drawing/2014/main" id="{6DC2B219-A5EC-6C36-3C03-324E058911F9}"/>
              </a:ext>
            </a:extLst>
          </p:cNvPr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>
            <a:extLst>
              <a:ext uri="{FF2B5EF4-FFF2-40B4-BE49-F238E27FC236}">
                <a16:creationId xmlns:a16="http://schemas.microsoft.com/office/drawing/2014/main" id="{CCBCFFA1-A84D-7F95-27A4-B68EB27E48B6}"/>
              </a:ext>
            </a:extLst>
          </p:cNvPr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</a:t>
            </a:r>
            <a:r>
              <a:rPr lang="en-IN" sz="3200" b="1" dirty="0" err="1">
                <a:solidFill>
                  <a:srgbClr val="C00000"/>
                </a:solidFill>
              </a:rPr>
              <a:t>roblem</a:t>
            </a:r>
            <a:r>
              <a:rPr lang="en-IN" sz="3200" b="1" dirty="0">
                <a:solidFill>
                  <a:srgbClr val="C00000"/>
                </a:solidFill>
              </a:rPr>
              <a:t> Statement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027C7-D08D-D66F-3B15-D90D850EA248}"/>
              </a:ext>
            </a:extLst>
          </p:cNvPr>
          <p:cNvSpPr txBox="1"/>
          <p:nvPr/>
        </p:nvSpPr>
        <p:spPr>
          <a:xfrm>
            <a:off x="304800" y="14478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CF6C8-5B5E-E1B5-EAFF-6AEFAB7FFAAB}"/>
              </a:ext>
            </a:extLst>
          </p:cNvPr>
          <p:cNvSpPr txBox="1"/>
          <p:nvPr/>
        </p:nvSpPr>
        <p:spPr>
          <a:xfrm>
            <a:off x="457200" y="1460090"/>
            <a:ext cx="8305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face difficulty in choosing the right career path after completing their education due to: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guidance or expert counselors.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influenced by parents or peers rather than aptitude.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counseling being time-consuming and inconsistent.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an intelligent and automated system that can accurately guide students toward the most suitable career based on data analysis and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01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EB18-66DA-7E3D-8BD6-F6FEDE172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09FEF932-99ED-3B55-E3C4-5ED922521C73}"/>
              </a:ext>
            </a:extLst>
          </p:cNvPr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>
            <a:extLst>
              <a:ext uri="{FF2B5EF4-FFF2-40B4-BE49-F238E27FC236}">
                <a16:creationId xmlns:a16="http://schemas.microsoft.com/office/drawing/2014/main" id="{650B2ECF-A7BA-71FA-3E89-24941297C989}"/>
              </a:ext>
            </a:extLst>
          </p:cNvPr>
          <p:cNvSpPr/>
          <p:nvPr/>
        </p:nvSpPr>
        <p:spPr>
          <a:xfrm>
            <a:off x="457200" y="3574080"/>
            <a:ext cx="815256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Research Objectives </a:t>
            </a:r>
          </a:p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EBAB1216-4D06-8EBC-1F5C-5DA20F4C7E9E}"/>
              </a:ext>
            </a:extLst>
          </p:cNvPr>
          <p:cNvSpPr/>
          <p:nvPr/>
        </p:nvSpPr>
        <p:spPr>
          <a:xfrm>
            <a:off x="685800" y="129528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347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31A8-B757-4739-336E-75A8A691F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4CBB3F55-70C5-9448-AF4C-02B1860FCD76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FB0F9-1713-099E-75EA-79AD408AB9FC}"/>
              </a:ext>
            </a:extLst>
          </p:cNvPr>
          <p:cNvSpPr txBox="1"/>
          <p:nvPr/>
        </p:nvSpPr>
        <p:spPr>
          <a:xfrm>
            <a:off x="304800" y="457200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Research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A2D185-FFDF-96EC-5113-54539FB75D82}"/>
              </a:ext>
            </a:extLst>
          </p:cNvPr>
          <p:cNvSpPr txBox="1"/>
          <p:nvPr/>
        </p:nvSpPr>
        <p:spPr>
          <a:xfrm>
            <a:off x="444910" y="1371600"/>
            <a:ext cx="80772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objectives of this project are: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machine learning-based model that predicts career options for students.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student data (marks, skills, interests) for better accuracy.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web interface for easy user interaction.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personalized and data-driven career guidance.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accuracy, reduce human bias, and make counseling more accessible.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015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8987-0C92-1590-04B3-7582B089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9D10A484-D0BB-5CD3-9C9A-2EE06116FD28}"/>
              </a:ext>
            </a:extLst>
          </p:cNvPr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>
            <a:extLst>
              <a:ext uri="{FF2B5EF4-FFF2-40B4-BE49-F238E27FC236}">
                <a16:creationId xmlns:a16="http://schemas.microsoft.com/office/drawing/2014/main" id="{1F830FEB-E457-DD2C-567B-71242C0A0C34}"/>
              </a:ext>
            </a:extLst>
          </p:cNvPr>
          <p:cNvSpPr/>
          <p:nvPr/>
        </p:nvSpPr>
        <p:spPr>
          <a:xfrm>
            <a:off x="457200" y="3574080"/>
            <a:ext cx="815256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Proposed System </a:t>
            </a:r>
          </a:p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B2C8DBDE-84DA-60A2-9753-72D185D383CA}"/>
              </a:ext>
            </a:extLst>
          </p:cNvPr>
          <p:cNvSpPr/>
          <p:nvPr/>
        </p:nvSpPr>
        <p:spPr>
          <a:xfrm>
            <a:off x="685800" y="129528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376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7A19-0C99-5558-EEC1-381977F7B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E16776EF-A55F-778D-1952-37AA114497CD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EFA83-AB65-C043-400F-B443DB1AA055}"/>
              </a:ext>
            </a:extLst>
          </p:cNvPr>
          <p:cNvSpPr txBox="1"/>
          <p:nvPr/>
        </p:nvSpPr>
        <p:spPr>
          <a:xfrm>
            <a:off x="304800" y="457200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Proposed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AD8FA8-289B-A50C-4526-954AB49C2C0C}"/>
              </a:ext>
            </a:extLst>
          </p:cNvPr>
          <p:cNvSpPr txBox="1"/>
          <p:nvPr/>
        </p:nvSpPr>
        <p:spPr>
          <a:xfrm>
            <a:off x="444910" y="1371600"/>
            <a:ext cx="8077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Career Guidance System For Students Using ML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idea is to develop an AI-Based Career Guidance System that helps students make informed career decisions using machine learning techniques. The system analyzes a student’s academic performance, aptitude, skills, interests, and personality traits to recommend the most suitable career paths.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Combines academic, skill, and psychometric data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Generates personalized career recommendations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Learns and improves with feedback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513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9693-0648-814B-CEEE-83159806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F01EC930-907E-0B0E-0ACA-07D1CD015F3E}"/>
              </a:ext>
            </a:extLst>
          </p:cNvPr>
          <p:cNvSpPr/>
          <p:nvPr/>
        </p:nvSpPr>
        <p:spPr>
          <a:xfrm>
            <a:off x="415090" y="894104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F379F-720B-39B9-616E-8B068CBCE3EC}"/>
              </a:ext>
            </a:extLst>
          </p:cNvPr>
          <p:cNvSpPr txBox="1"/>
          <p:nvPr/>
        </p:nvSpPr>
        <p:spPr>
          <a:xfrm>
            <a:off x="415090" y="28526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4910F-1922-3649-B63D-9830AF3CF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0" b="21918"/>
          <a:stretch>
            <a:fillRect/>
          </a:stretch>
        </p:blipFill>
        <p:spPr>
          <a:xfrm>
            <a:off x="1676400" y="1097108"/>
            <a:ext cx="5715000" cy="572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01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2227-68F8-2B68-00F9-36ABA699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30A8E42C-97D3-284F-6F96-47D7E0871C5A}"/>
              </a:ext>
            </a:extLst>
          </p:cNvPr>
          <p:cNvSpPr/>
          <p:nvPr/>
        </p:nvSpPr>
        <p:spPr>
          <a:xfrm>
            <a:off x="415090" y="894104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8BC1C-5F5A-059D-4C72-F66785265FA9}"/>
              </a:ext>
            </a:extLst>
          </p:cNvPr>
          <p:cNvSpPr txBox="1"/>
          <p:nvPr/>
        </p:nvSpPr>
        <p:spPr>
          <a:xfrm>
            <a:off x="415090" y="28526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C9650-4D4E-F958-6EBD-1D31B43BC415}"/>
              </a:ext>
            </a:extLst>
          </p:cNvPr>
          <p:cNvSpPr txBox="1"/>
          <p:nvPr/>
        </p:nvSpPr>
        <p:spPr>
          <a:xfrm>
            <a:off x="415090" y="993767"/>
            <a:ext cx="83058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User Registration &amp; 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create an account or log in to the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details such as name, age, education level, interests, and academic background are collected.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Data Collection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scores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and aptitude responses (questionnaire/test)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and preferences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acts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machine learning model.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Data Pre-processing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user data is cleaned and formatted.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include: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categorical data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Normalization/scaling of numerical values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393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FC54-A7B1-9327-B70A-0668A5BF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41432813-F13D-96C6-9B59-C4041731A73E}"/>
              </a:ext>
            </a:extLst>
          </p:cNvPr>
          <p:cNvSpPr/>
          <p:nvPr/>
        </p:nvSpPr>
        <p:spPr>
          <a:xfrm>
            <a:off x="415090" y="894104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708543-C0C2-70B9-06FB-EA18C4496A83}"/>
              </a:ext>
            </a:extLst>
          </p:cNvPr>
          <p:cNvSpPr txBox="1"/>
          <p:nvPr/>
        </p:nvSpPr>
        <p:spPr>
          <a:xfrm>
            <a:off x="415090" y="28526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5E6E02-CD04-48F3-1361-DA6ADAA378C6}"/>
              </a:ext>
            </a:extLst>
          </p:cNvPr>
          <p:cNvSpPr txBox="1"/>
          <p:nvPr/>
        </p:nvSpPr>
        <p:spPr>
          <a:xfrm>
            <a:off x="427122" y="1172709"/>
            <a:ext cx="8305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Feature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attributes (marks, interests, skills) are selected.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Irrelevant or redundant data is removed to improve accuracy.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Machine Learning Model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data is fed into the trained ML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analyze patterns and similarities with past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suitable career domains.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Career Recommendation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model output, the system recommends: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paths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skills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 and learning resources</a:t>
            </a:r>
          </a:p>
        </p:txBody>
      </p:sp>
    </p:spTree>
    <p:extLst>
      <p:ext uri="{BB962C8B-B14F-4D97-AF65-F5344CB8AC3E}">
        <p14:creationId xmlns:p14="http://schemas.microsoft.com/office/powerpoint/2010/main" val="292308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3A903-2DEF-92C3-4F82-081FB4E89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4CD29911-3B9D-02F6-C202-90AE165B8CFE}"/>
              </a:ext>
            </a:extLst>
          </p:cNvPr>
          <p:cNvSpPr/>
          <p:nvPr/>
        </p:nvSpPr>
        <p:spPr>
          <a:xfrm>
            <a:off x="415090" y="894104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1539F-C790-584B-B5AF-90A53DFB4F7B}"/>
              </a:ext>
            </a:extLst>
          </p:cNvPr>
          <p:cNvSpPr txBox="1"/>
          <p:nvPr/>
        </p:nvSpPr>
        <p:spPr>
          <a:xfrm>
            <a:off x="415090" y="28526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745BAB-0F55-F464-E1F9-3AF97D29F461}"/>
              </a:ext>
            </a:extLst>
          </p:cNvPr>
          <p:cNvSpPr txBox="1"/>
          <p:nvPr/>
        </p:nvSpPr>
        <p:spPr>
          <a:xfrm>
            <a:off x="427122" y="1172709"/>
            <a:ext cx="830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Result Display &amp; Guidance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displayed through a user-friendly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receive personalized career guidance instantly.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8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743DE-62E3-7896-4CAD-BA43C374F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5E81124A-A3FA-5D77-5129-8CE7A3C207AE}"/>
              </a:ext>
            </a:extLst>
          </p:cNvPr>
          <p:cNvSpPr/>
          <p:nvPr/>
        </p:nvSpPr>
        <p:spPr>
          <a:xfrm>
            <a:off x="415090" y="894104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7CB17-F6E3-7753-D995-41C1ECA31A5D}"/>
              </a:ext>
            </a:extLst>
          </p:cNvPr>
          <p:cNvSpPr txBox="1"/>
          <p:nvPr/>
        </p:nvSpPr>
        <p:spPr>
          <a:xfrm>
            <a:off x="415090" y="28526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Result &amp; Discussion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F255DA-D0CC-D0EF-E59F-96A228469727}"/>
              </a:ext>
            </a:extLst>
          </p:cNvPr>
          <p:cNvSpPr txBox="1"/>
          <p:nvPr/>
        </p:nvSpPr>
        <p:spPr>
          <a:xfrm>
            <a:off x="427122" y="1172709"/>
            <a:ext cx="8305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a 1000-record dataset using an 80:20 split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Decision Tree, Random Forest, KNN, and Naïve Bayes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performed best and was selected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generated personalized career recommendations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approach reduced bias and improved scalability</a:t>
            </a:r>
          </a:p>
        </p:txBody>
      </p:sp>
    </p:spTree>
    <p:extLst>
      <p:ext uri="{BB962C8B-B14F-4D97-AF65-F5344CB8AC3E}">
        <p14:creationId xmlns:p14="http://schemas.microsoft.com/office/powerpoint/2010/main" val="3781639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F482A-0ECE-D9E8-A3C9-A206B8A7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FB931B15-1C71-18DA-682E-4CD168388C1B}"/>
              </a:ext>
            </a:extLst>
          </p:cNvPr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>
            <a:extLst>
              <a:ext uri="{FF2B5EF4-FFF2-40B4-BE49-F238E27FC236}">
                <a16:creationId xmlns:a16="http://schemas.microsoft.com/office/drawing/2014/main" id="{401587A4-ABCC-C284-6C4C-A1E75692FAB2}"/>
              </a:ext>
            </a:extLst>
          </p:cNvPr>
          <p:cNvSpPr/>
          <p:nvPr/>
        </p:nvSpPr>
        <p:spPr>
          <a:xfrm>
            <a:off x="-685800" y="3429000"/>
            <a:ext cx="9295920" cy="1471143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Conclusion  </a:t>
            </a:r>
          </a:p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BED45E0E-BB61-7CCF-8E7C-A55EA0CFE0D4}"/>
              </a:ext>
            </a:extLst>
          </p:cNvPr>
          <p:cNvSpPr/>
          <p:nvPr/>
        </p:nvSpPr>
        <p:spPr>
          <a:xfrm>
            <a:off x="685800" y="129528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104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0D3C9-458F-9AFC-B143-8DD2EB3C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40FF51EF-4A40-C2D4-CEF4-31A753864864}"/>
              </a:ext>
            </a:extLst>
          </p:cNvPr>
          <p:cNvSpPr/>
          <p:nvPr/>
        </p:nvSpPr>
        <p:spPr>
          <a:xfrm>
            <a:off x="415090" y="894104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0F030-CD31-874C-29A8-38940326B959}"/>
              </a:ext>
            </a:extLst>
          </p:cNvPr>
          <p:cNvSpPr txBox="1"/>
          <p:nvPr/>
        </p:nvSpPr>
        <p:spPr>
          <a:xfrm>
            <a:off x="415090" y="28526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BC8D1A-9388-CE92-B1F1-D4523FB7EEBB}"/>
              </a:ext>
            </a:extLst>
          </p:cNvPr>
          <p:cNvSpPr txBox="1"/>
          <p:nvPr/>
        </p:nvSpPr>
        <p:spPr>
          <a:xfrm>
            <a:off x="427122" y="1172709"/>
            <a:ext cx="8305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AI-Based Career Guidance System uses machine learning to analyze student data and provide personalized career recommendations. It reduces human bias, saves time, and offers scalable guidance through a web-based platform. The project demonstrates that AI can effectively support students in making informed career decisions.</a:t>
            </a:r>
          </a:p>
        </p:txBody>
      </p:sp>
    </p:spTree>
    <p:extLst>
      <p:ext uri="{BB962C8B-B14F-4D97-AF65-F5344CB8AC3E}">
        <p14:creationId xmlns:p14="http://schemas.microsoft.com/office/powerpoint/2010/main" val="2136475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CC14-2194-A08A-1F52-FC194CA76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2FD3D43D-4C29-2B07-A60B-66B205D277A5}"/>
              </a:ext>
            </a:extLst>
          </p:cNvPr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>
            <a:extLst>
              <a:ext uri="{FF2B5EF4-FFF2-40B4-BE49-F238E27FC236}">
                <a16:creationId xmlns:a16="http://schemas.microsoft.com/office/drawing/2014/main" id="{6BAB777A-A562-C22E-3BB7-003103616D80}"/>
              </a:ext>
            </a:extLst>
          </p:cNvPr>
          <p:cNvSpPr/>
          <p:nvPr/>
        </p:nvSpPr>
        <p:spPr>
          <a:xfrm>
            <a:off x="-685800" y="3429000"/>
            <a:ext cx="9295920" cy="1471143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References 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1985A5DF-7CE1-E5FC-C5AD-8810C22F6689}"/>
              </a:ext>
            </a:extLst>
          </p:cNvPr>
          <p:cNvSpPr/>
          <p:nvPr/>
        </p:nvSpPr>
        <p:spPr>
          <a:xfrm>
            <a:off x="685800" y="129528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553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CAF8-2105-CF2B-E9FE-0BE95171C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0C17CFC5-45E4-8456-6676-DC8F5DE8A98F}"/>
              </a:ext>
            </a:extLst>
          </p:cNvPr>
          <p:cNvSpPr/>
          <p:nvPr/>
        </p:nvSpPr>
        <p:spPr>
          <a:xfrm>
            <a:off x="415090" y="894104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F3D01-1B2F-9CC0-D871-F18371FA5178}"/>
              </a:ext>
            </a:extLst>
          </p:cNvPr>
          <p:cNvSpPr txBox="1"/>
          <p:nvPr/>
        </p:nvSpPr>
        <p:spPr>
          <a:xfrm>
            <a:off x="415090" y="28526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E9B96C-E18E-0BE4-DDC1-3DC69D8D06DF}"/>
              </a:ext>
            </a:extLst>
          </p:cNvPr>
          <p:cNvSpPr txBox="1"/>
          <p:nvPr/>
        </p:nvSpPr>
        <p:spPr>
          <a:xfrm>
            <a:off x="427122" y="1172709"/>
            <a:ext cx="8305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hlinkClick r:id="rId2"/>
              </a:rPr>
              <a:t>Career_guidance_system_for_students_using_machine_.pdf - Google Drive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hlinkClick r:id="rId3"/>
              </a:rPr>
              <a:t>https://files.eric.ed.gov/fulltext/EJ1318705.pdf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hlinkClick r:id="rId4"/>
              </a:rPr>
              <a:t>https://ijarsct.co.in/Paper17841.pdf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hlinkClick r:id="rId5"/>
              </a:rPr>
              <a:t>https://www.irjmets.com/uploadedfiles/paper/issue_3_march_2022/20476/final/fin_irjmets1649056741.pdf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hlinkClick r:id="rId6"/>
              </a:rPr>
              <a:t>https://ijarsct.co.in/Paper23904.pdf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1943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0" y="3048000"/>
            <a:ext cx="677159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816</Words>
  <Application>Microsoft Office PowerPoint</Application>
  <PresentationFormat>On-screen Show (4:3)</PresentationFormat>
  <Paragraphs>133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Bookman Old Style</vt:lpstr>
      <vt:lpstr>Calibri</vt:lpstr>
      <vt:lpstr>StarSymbol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Hareen</dc:creator>
  <cp:lastModifiedBy>vaishnavi gentyala</cp:lastModifiedBy>
  <cp:revision>753</cp:revision>
  <dcterms:created xsi:type="dcterms:W3CDTF">2025-07-25T12:27:25Z</dcterms:created>
  <dcterms:modified xsi:type="dcterms:W3CDTF">2025-12-20T04:07:12Z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F34A31EDC3AE4A68AD56E22E1E288A08_13</vt:lpwstr>
  </property>
  <property fmtid="{D5CDD505-2E9C-101B-9397-08002B2CF9AE}" pid="3" name="KSOProductBuildVer">
    <vt:lpwstr>1033-12.2.0.21931</vt:lpwstr>
  </property>
</Properties>
</file>