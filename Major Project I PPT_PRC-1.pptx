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99" r:id="rId4"/>
    <p:sldId id="400" r:id="rId5"/>
    <p:sldId id="258" r:id="rId6"/>
    <p:sldId id="259" r:id="rId7"/>
    <p:sldId id="437" r:id="rId8"/>
    <p:sldId id="438" r:id="rId9"/>
    <p:sldId id="432" r:id="rId10"/>
    <p:sldId id="433" r:id="rId11"/>
    <p:sldId id="434" r:id="rId12"/>
    <p:sldId id="442" r:id="rId13"/>
    <p:sldId id="443" r:id="rId14"/>
    <p:sldId id="439" r:id="rId15"/>
    <p:sldId id="440" r:id="rId16"/>
    <p:sldId id="444" r:id="rId17"/>
    <p:sldId id="375" r:id="rId18"/>
    <p:sldId id="376" r:id="rId19"/>
    <p:sldId id="268" r:id="rId20"/>
    <p:sldId id="430" r:id="rId21"/>
    <p:sldId id="441" r:id="rId22"/>
    <p:sldId id="290" r:id="rId23"/>
    <p:sldId id="28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5A32E-3E54-4657-8E6F-597886137273}" v="20" dt="2025-08-03T11:51:49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howGuides="1">
      <p:cViewPr varScale="1">
        <p:scale>
          <a:sx n="78" d="100"/>
          <a:sy n="78" d="100"/>
        </p:scale>
        <p:origin x="161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tyalavaishnavi@gmail.com" userId="5c5173bbc203e9ad" providerId="LiveId" clId="{34B5A32E-3E54-4657-8E6F-597886137273}"/>
    <pc:docChg chg="addSld modSld">
      <pc:chgData name="gentyalavaishnavi@gmail.com" userId="5c5173bbc203e9ad" providerId="LiveId" clId="{34B5A32E-3E54-4657-8E6F-597886137273}" dt="2025-07-25T12:58:16.304" v="195"/>
      <pc:docMkLst>
        <pc:docMk/>
      </pc:docMkLst>
      <pc:sldChg chg="addSp delSp modSp add mod">
        <pc:chgData name="gentyalavaishnavi@gmail.com" userId="5c5173bbc203e9ad" providerId="LiveId" clId="{34B5A32E-3E54-4657-8E6F-597886137273}" dt="2025-07-25T12:47:55.222" v="59" actId="20577"/>
        <pc:sldMkLst>
          <pc:docMk/>
          <pc:sldMk cId="2827942501" sldId="442"/>
        </pc:sldMkLst>
        <pc:spChg chg="mod">
          <ac:chgData name="gentyalavaishnavi@gmail.com" userId="5c5173bbc203e9ad" providerId="LiveId" clId="{34B5A32E-3E54-4657-8E6F-597886137273}" dt="2025-07-25T12:47:55.222" v="59" actId="20577"/>
          <ac:spMkLst>
            <pc:docMk/>
            <pc:sldMk cId="2827942501" sldId="442"/>
            <ac:spMk id="5" creationId="{1B917466-CD99-4069-1675-DAD6007F3A42}"/>
          </ac:spMkLst>
        </pc:spChg>
        <pc:spChg chg="mod">
          <ac:chgData name="gentyalavaishnavi@gmail.com" userId="5c5173bbc203e9ad" providerId="LiveId" clId="{34B5A32E-3E54-4657-8E6F-597886137273}" dt="2025-07-25T12:40:52.791" v="12" actId="20577"/>
          <ac:spMkLst>
            <pc:docMk/>
            <pc:sldMk cId="2827942501" sldId="442"/>
            <ac:spMk id="50" creationId="{AEE29855-854C-135A-1BB6-24DE4FBED1F1}"/>
          </ac:spMkLst>
        </pc:spChg>
      </pc:sldChg>
      <pc:sldChg chg="modSp add mod">
        <pc:chgData name="gentyalavaishnavi@gmail.com" userId="5c5173bbc203e9ad" providerId="LiveId" clId="{34B5A32E-3E54-4657-8E6F-597886137273}" dt="2025-07-25T12:53:39.393" v="123" actId="1076"/>
        <pc:sldMkLst>
          <pc:docMk/>
          <pc:sldMk cId="4280989245" sldId="443"/>
        </pc:sldMkLst>
        <pc:spChg chg="mod">
          <ac:chgData name="gentyalavaishnavi@gmail.com" userId="5c5173bbc203e9ad" providerId="LiveId" clId="{34B5A32E-3E54-4657-8E6F-597886137273}" dt="2025-07-25T12:53:39.393" v="123" actId="1076"/>
          <ac:spMkLst>
            <pc:docMk/>
            <pc:sldMk cId="4280989245" sldId="443"/>
            <ac:spMk id="5" creationId="{2A65AE32-31D7-035D-3C59-B1EDB91F4A45}"/>
          </ac:spMkLst>
        </pc:spChg>
        <pc:spChg chg="mod">
          <ac:chgData name="gentyalavaishnavi@gmail.com" userId="5c5173bbc203e9ad" providerId="LiveId" clId="{34B5A32E-3E54-4657-8E6F-597886137273}" dt="2025-07-25T12:48:06.028" v="61" actId="20577"/>
          <ac:spMkLst>
            <pc:docMk/>
            <pc:sldMk cId="4280989245" sldId="443"/>
            <ac:spMk id="50" creationId="{6EB988FB-FF66-98BA-A16F-7FB47AB6860D}"/>
          </ac:spMkLst>
        </pc:spChg>
      </pc:sldChg>
      <pc:sldChg chg="addSp delSp modSp add mod">
        <pc:chgData name="gentyalavaishnavi@gmail.com" userId="5c5173bbc203e9ad" providerId="LiveId" clId="{34B5A32E-3E54-4657-8E6F-597886137273}" dt="2025-07-25T12:58:16.304" v="195"/>
        <pc:sldMkLst>
          <pc:docMk/>
          <pc:sldMk cId="3025226008" sldId="444"/>
        </pc:sldMkLst>
        <pc:spChg chg="mod">
          <ac:chgData name="gentyalavaishnavi@gmail.com" userId="5c5173bbc203e9ad" providerId="LiveId" clId="{34B5A32E-3E54-4657-8E6F-597886137273}" dt="2025-07-25T12:58:15.037" v="193" actId="113"/>
          <ac:spMkLst>
            <pc:docMk/>
            <pc:sldMk cId="3025226008" sldId="444"/>
            <ac:spMk id="5" creationId="{4C5114E7-CE59-C522-B451-382B40E4FB2B}"/>
          </ac:spMkLst>
        </pc:spChg>
      </pc:sldChg>
    </pc:docChg>
  </pc:docChgLst>
  <pc:docChgLst>
    <pc:chgData name="vaishnavi gentyala" userId="5c5173bbc203e9ad" providerId="LiveId" clId="{34B5A32E-3E54-4657-8E6F-597886137273}"/>
    <pc:docChg chg="custSel modSld">
      <pc:chgData name="vaishnavi gentyala" userId="5c5173bbc203e9ad" providerId="LiveId" clId="{34B5A32E-3E54-4657-8E6F-597886137273}" dt="2025-08-04T03:45:43.365" v="87" actId="20577"/>
      <pc:docMkLst>
        <pc:docMk/>
      </pc:docMkLst>
      <pc:sldChg chg="modSp mod">
        <pc:chgData name="vaishnavi gentyala" userId="5c5173bbc203e9ad" providerId="LiveId" clId="{34B5A32E-3E54-4657-8E6F-597886137273}" dt="2025-08-04T03:33:54.432" v="80" actId="20577"/>
        <pc:sldMkLst>
          <pc:docMk/>
          <pc:sldMk cId="0" sldId="400"/>
        </pc:sldMkLst>
        <pc:spChg chg="mod">
          <ac:chgData name="vaishnavi gentyala" userId="5c5173bbc203e9ad" providerId="LiveId" clId="{34B5A32E-3E54-4657-8E6F-597886137273}" dt="2025-08-04T03:33:54.432" v="80" actId="20577"/>
          <ac:spMkLst>
            <pc:docMk/>
            <pc:sldMk cId="0" sldId="400"/>
            <ac:spMk id="3" creationId="{00000000-0000-0000-0000-000000000000}"/>
          </ac:spMkLst>
        </pc:spChg>
      </pc:sldChg>
      <pc:sldChg chg="modSp mod">
        <pc:chgData name="vaishnavi gentyala" userId="5c5173bbc203e9ad" providerId="LiveId" clId="{34B5A32E-3E54-4657-8E6F-597886137273}" dt="2025-08-03T12:08:30.707" v="77" actId="20577"/>
        <pc:sldMkLst>
          <pc:docMk/>
          <pc:sldMk cId="0" sldId="430"/>
        </pc:sldMkLst>
        <pc:spChg chg="mod">
          <ac:chgData name="vaishnavi gentyala" userId="5c5173bbc203e9ad" providerId="LiveId" clId="{34B5A32E-3E54-4657-8E6F-597886137273}" dt="2025-08-03T12:08:30.707" v="77" actId="20577"/>
          <ac:spMkLst>
            <pc:docMk/>
            <pc:sldMk cId="0" sldId="430"/>
            <ac:spMk id="2" creationId="{00000000-0000-0000-0000-000000000000}"/>
          </ac:spMkLst>
        </pc:spChg>
      </pc:sldChg>
      <pc:sldChg chg="modSp mod">
        <pc:chgData name="vaishnavi gentyala" userId="5c5173bbc203e9ad" providerId="LiveId" clId="{34B5A32E-3E54-4657-8E6F-597886137273}" dt="2025-08-03T11:55:55.992" v="15" actId="20577"/>
        <pc:sldMkLst>
          <pc:docMk/>
          <pc:sldMk cId="0" sldId="433"/>
        </pc:sldMkLst>
        <pc:spChg chg="mod">
          <ac:chgData name="vaishnavi gentyala" userId="5c5173bbc203e9ad" providerId="LiveId" clId="{34B5A32E-3E54-4657-8E6F-597886137273}" dt="2025-08-03T11:55:55.992" v="15" actId="20577"/>
          <ac:spMkLst>
            <pc:docMk/>
            <pc:sldMk cId="0" sldId="433"/>
            <ac:spMk id="5" creationId="{00000000-0000-0000-0000-000000000000}"/>
          </ac:spMkLst>
        </pc:spChg>
      </pc:sldChg>
      <pc:sldChg chg="modSp mod">
        <pc:chgData name="vaishnavi gentyala" userId="5c5173bbc203e9ad" providerId="LiveId" clId="{34B5A32E-3E54-4657-8E6F-597886137273}" dt="2025-08-04T03:45:43.365" v="87" actId="20577"/>
        <pc:sldMkLst>
          <pc:docMk/>
          <pc:sldMk cId="0" sldId="438"/>
        </pc:sldMkLst>
        <pc:spChg chg="mod">
          <ac:chgData name="vaishnavi gentyala" userId="5c5173bbc203e9ad" providerId="LiveId" clId="{34B5A32E-3E54-4657-8E6F-597886137273}" dt="2025-08-04T03:45:43.365" v="87" actId="20577"/>
          <ac:spMkLst>
            <pc:docMk/>
            <pc:sldMk cId="0" sldId="438"/>
            <ac:spMk id="2" creationId="{00000000-0000-0000-0000-000000000000}"/>
          </ac:spMkLst>
        </pc:spChg>
      </pc:sldChg>
      <pc:sldChg chg="modSp mod">
        <pc:chgData name="vaishnavi gentyala" userId="5c5173bbc203e9ad" providerId="LiveId" clId="{34B5A32E-3E54-4657-8E6F-597886137273}" dt="2025-08-03T11:52:02.579" v="9" actId="20577"/>
        <pc:sldMkLst>
          <pc:docMk/>
          <pc:sldMk cId="0" sldId="441"/>
        </pc:sldMkLst>
        <pc:spChg chg="mod">
          <ac:chgData name="vaishnavi gentyala" userId="5c5173bbc203e9ad" providerId="LiveId" clId="{34B5A32E-3E54-4657-8E6F-597886137273}" dt="2025-08-03T11:52:02.579" v="9" actId="20577"/>
          <ac:spMkLst>
            <pc:docMk/>
            <pc:sldMk cId="0" sldId="441"/>
            <ac:spMk id="2" creationId="{00000000-0000-0000-0000-000000000000}"/>
          </ac:spMkLst>
        </pc:spChg>
      </pc:sldChg>
      <pc:sldChg chg="modSp mod">
        <pc:chgData name="vaishnavi gentyala" userId="5c5173bbc203e9ad" providerId="LiveId" clId="{34B5A32E-3E54-4657-8E6F-597886137273}" dt="2025-08-03T12:03:25.801" v="17" actId="20577"/>
        <pc:sldMkLst>
          <pc:docMk/>
          <pc:sldMk cId="3025226008" sldId="444"/>
        </pc:sldMkLst>
        <pc:spChg chg="mod">
          <ac:chgData name="vaishnavi gentyala" userId="5c5173bbc203e9ad" providerId="LiveId" clId="{34B5A32E-3E54-4657-8E6F-597886137273}" dt="2025-08-03T12:03:25.801" v="17" actId="20577"/>
          <ac:spMkLst>
            <pc:docMk/>
            <pc:sldMk cId="3025226008" sldId="444"/>
            <ac:spMk id="5" creationId="{4C5114E7-CE59-C522-B451-382B40E4FB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IN"/>
              <a:t>Click to edit the notes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32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r>
              <a:rPr lang="en-IN"/>
              <a:t>&lt;header&gt;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dt"/>
          </p:nvPr>
        </p:nvSpPr>
        <p:spPr>
          <a:xfrm>
            <a:off x="4279320" y="0"/>
            <a:ext cx="3280320" cy="534240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/>
            <a:r>
              <a:rPr lang="en-IN"/>
              <a:t>&lt;date/time&gt;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32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r>
              <a:rPr lang="en-IN"/>
              <a:t>&lt;footer&gt;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</p:spPr>
        <p:txBody>
          <a:bodyPr wrap="none" lIns="0" tIns="0" rIns="0" bIns="0" anchor="b"/>
          <a:lstStyle/>
          <a:p>
            <a:pPr algn="r"/>
            <a:fld id="{51811100-C181-4161-81E1-C1B1D191B141}" type="slidenum">
              <a:rPr lang="en-IN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49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1216171-A131-4111-8101-11D1D10191D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11131C1-D111-41A1-81D1-3111B1E131A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111131C1-D111-41A1-81D1-3111B1E131A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10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11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A2801-3C9B-CFC7-FA13-223388F0B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>
            <a:extLst>
              <a:ext uri="{FF2B5EF4-FFF2-40B4-BE49-F238E27FC236}">
                <a16:creationId xmlns:a16="http://schemas.microsoft.com/office/drawing/2014/main" id="{76D810D0-4485-39D7-DEFB-BDA5A2F1296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>
            <a:extLst>
              <a:ext uri="{FF2B5EF4-FFF2-40B4-BE49-F238E27FC236}">
                <a16:creationId xmlns:a16="http://schemas.microsoft.com/office/drawing/2014/main" id="{12F719ED-1D38-E38A-144B-53E981592AA3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59875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EAC9-795D-D4AE-796B-0F741D1A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>
            <a:extLst>
              <a:ext uri="{FF2B5EF4-FFF2-40B4-BE49-F238E27FC236}">
                <a16:creationId xmlns:a16="http://schemas.microsoft.com/office/drawing/2014/main" id="{C56F8609-261F-2FC5-AFFA-ECE6BB549F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53" name="CustomShape 2">
            <a:extLst>
              <a:ext uri="{FF2B5EF4-FFF2-40B4-BE49-F238E27FC236}">
                <a16:creationId xmlns:a16="http://schemas.microsoft.com/office/drawing/2014/main" id="{2FDF9853-C96C-E292-2C6B-653533148880}"/>
              </a:ext>
            </a:extLst>
          </p:cNvPr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D19121C1-21D1-4161-B1F1-C141D191815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13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3800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endParaRPr/>
          </a:p>
        </p:txBody>
      </p:sp>
      <p:sp>
        <p:nvSpPr>
          <p:cNvPr id="171" name="CustomShape 2"/>
          <p:cNvSpPr/>
          <p:nvPr/>
        </p:nvSpPr>
        <p:spPr>
          <a:xfrm>
            <a:off x="0" y="0"/>
            <a:ext cx="11796480" cy="1179648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C161C1D1-A141-41A1-8121-0111B131A1E1}" type="slidenum">
              <a:rPr lang="en-IN">
                <a:solidFill>
                  <a:srgbClr val="000000"/>
                </a:solidFill>
                <a:latin typeface="+mn-lt"/>
                <a:ea typeface="+mn-ea"/>
              </a:rPr>
              <a:t>19</a:t>
            </a:fld>
            <a:endParaRPr lang="en-IN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046360" cy="39772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1680" cy="345096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992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1360"/>
            <a:ext cx="804564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1360"/>
            <a:ext cx="80463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992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136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88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9920" y="1604520"/>
            <a:ext cx="3926160" cy="189648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520"/>
          </a:xfrm>
          <a:prstGeom prst="rect">
            <a:avLst/>
          </a:prstGeom>
        </p:spPr>
        <p:txBody>
          <a:bodyPr wrap="none" lIns="0" tIns="0" rIns="0" bIns="0" anchor="ctr"/>
          <a:lstStyle/>
          <a:p>
            <a:r>
              <a:rPr lang="en-IN"/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046360" cy="397692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buSzPct val="45000"/>
              <a:buFont typeface="StarSymbol"/>
              <a:buChar char=""/>
            </a:pPr>
            <a:r>
              <a:rPr lang="en-IN"/>
              <a:t>Click to edit the outline text format</a:t>
            </a:r>
          </a:p>
          <a:p>
            <a:pPr lvl="1">
              <a:buSzPct val="75000"/>
              <a:buFont typeface="StarSymbol"/>
              <a:buChar char=""/>
            </a:pPr>
            <a:r>
              <a:rPr lang="en-IN"/>
              <a:t>Second Outline Level</a:t>
            </a:r>
          </a:p>
          <a:p>
            <a:pPr lvl="2">
              <a:buSzPct val="45000"/>
              <a:buFont typeface="StarSymbol"/>
              <a:buChar char=""/>
            </a:pPr>
            <a:r>
              <a:rPr lang="en-IN"/>
              <a:t>Third Outline Level</a:t>
            </a:r>
          </a:p>
          <a:p>
            <a:pPr lvl="3">
              <a:buSzPct val="75000"/>
              <a:buFont typeface="StarSymbol"/>
              <a:buChar char=""/>
            </a:pPr>
            <a:r>
              <a:rPr lang="en-IN"/>
              <a:t>Fourth Outline Level</a:t>
            </a:r>
          </a:p>
          <a:p>
            <a:pPr lvl="4">
              <a:buSzPct val="45000"/>
              <a:buFont typeface="StarSymbol"/>
              <a:buChar char=""/>
            </a:pPr>
            <a:r>
              <a:rPr lang="en-IN"/>
              <a:t>Fifth Outline Level</a:t>
            </a:r>
          </a:p>
          <a:p>
            <a:pPr lvl="5">
              <a:buSzPct val="45000"/>
              <a:buFont typeface="StarSymbol"/>
              <a:buChar char=""/>
            </a:pPr>
            <a:r>
              <a:rPr lang="en-IN"/>
              <a:t>Sixth Outline Level</a:t>
            </a:r>
          </a:p>
          <a:p>
            <a:pPr lvl="6">
              <a:buSzPct val="45000"/>
              <a:buFont typeface="StarSymbol"/>
              <a:buChar char=""/>
            </a:pPr>
            <a:r>
              <a:rPr lang="en-IN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ijarcce.com/papers/intelligent-career-guidance-system-using-machine-learning/" TargetMode="External"/><Relationship Id="rId2" Type="http://schemas.openxmlformats.org/officeDocument/2006/relationships/hyperlink" Target="https://drive.google.com/file/d/1csyA90U_RyBU1300TS4M7qf_uxDIVkHd/view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ijcrt.org/papers/IJCRT2505326.pdf" TargetMode="External"/><Relationship Id="rId4" Type="http://schemas.openxmlformats.org/officeDocument/2006/relationships/hyperlink" Target="https://ieeexplore.ieee.org/document/9441978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47800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Career Guidance System For Students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0" y="3122442"/>
            <a:ext cx="50292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Name of the student: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b="1" dirty="0"/>
              <a:t>A. Yuva Venkat</a:t>
            </a:r>
          </a:p>
          <a:p>
            <a:r>
              <a:rPr lang="en-US" b="1" dirty="0"/>
              <a:t>P. Jayanth Kumar</a:t>
            </a:r>
          </a:p>
          <a:p>
            <a:r>
              <a:rPr lang="en-US" b="1" dirty="0"/>
              <a:t>G. Vaishnavi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072" y="4739163"/>
            <a:ext cx="5181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64135" lvl="0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  <a:defRPr/>
            </a:pPr>
            <a:r>
              <a:rPr lang="en-US" sz="2000" b="1" dirty="0">
                <a:solidFill>
                  <a:srgbClr val="C00000"/>
                </a:solidFill>
              </a:rPr>
              <a:t>Under esteemed guidance of</a:t>
            </a:r>
          </a:p>
          <a:p>
            <a:r>
              <a:rPr lang="en-US" sz="2000" b="1" dirty="0"/>
              <a:t>Mrs. K. Anusha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228600"/>
          <a:ext cx="7010400" cy="95119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01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CMR COLLEGE OF ENGINEERING &amp; TECHNOLOGY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alibri" panose="020F0502020204030204"/>
                      </a:endParaRPr>
                    </a:p>
                  </a:txBody>
                  <a:tcPr marL="9199" marR="9199" marT="6133" marB="6133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Kandlakoya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002060"/>
                          </a:solidFill>
                        </a:rPr>
                        <a:t>Medchal</a:t>
                      </a:r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, Hyderabad - 501401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9199" marR="9199" marT="6133" marB="6133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Department of Computer Science and Engineering-(AI&amp;ML)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9199" marR="9199" marT="6133" marB="6133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22" name="AutoShape 2" descr="data:image/png;base64,iVBORw0KGgoAAAANSUhEUgAAAEwAAABNCAYAAAAMy4KOAAAAAXNSR0IArs4c6QAAIABJREFUeF7tvAezG1eW5/lLB48H4HnDRyuKIiWR8iVHUa5LrlS+a6Z7tmNntmc+205P9O5GlXyVRIqkbMmXRO+e9wYeSL9xTiZIVmxsxHyAASP1BCCRee//HvM/5qYRx3HM/3r9TyNgCGDR/+f0GPmHHvIa/DX0nYGBwhzL/4FhJH/ls+RzOUdP1FcUh0RxhGEZmKZFLF9EoR4mAQYRxB74fXB7yXd2Bpws2Dk9QsNBzo707gaWARYhRhySrLlJjJXedDDOuyYmpxgxhg54MLfo7+aZfConyLWM9P/1B3ohR38ax3GQ4nFH1ORCIbExgDL5xlCADEEIYhNB2pR/A8CiZK4yflNua8oAYvwwICTAtA0sO6MDiUIfM+hjRy4mLoQt4vY2UWOL2HMx8yXM0jAUh6EwjGcVcSOHAAvDMMmYMVl8rMgjFtBwiMgQx5YupJkOc7DuMiaFwJSFi4mNAOR3OscEOJllhCyoTaSLI9dKFxgoyTUFsFDRT+VIsYmIDRnEHQlLoUrXVyTMVGDkczOBUVc6jtLVlYvrlVIJE9kQsRAJE0kMPczQxQ57GEGbuLuFt71Me2OJwO1RqAyTH5nEqk5hVKYIs1X8OIMXy2QMbCMBzI59nTiGTWw4xLJUcTIiESS9lwxCpTDCECkT0MwIDPndHW3S0xSoBDC9lgIoUENxIGGRXDRVIb2J/EuRv1tbB8Ak6A7U8rbmpSNLkFLRH6ipam8i4vJX7xb5mJGL5Teht0u4u0R79Qa7K3O4/S6lao3KxB5y4wewxw8QFycIjTxu7BCKBKk8BdgDlRY4DJVrTFXNRNKIBuOU1U2VzkiASwAT4JLPVfJT1RawkkMAS/DJDwCTFbgNWCpVcq/k0zuKOpAyBSuKE4lKfYbaIV1BMFQf7kLLsIhNmyhOzpKvzTjAiMRm7UBzFXf1GruLl9lauk6316ZQGmJkej/VvUfJ7TmGUZ0ltkp45PBjE6IIOw7IiLQYEVEcqK0UdbUMG0MtjoAmEpeuXrpWiZGVkQhgKWgpYANbeAcwAS1BIXsbMLE7inKi5wqV6usdw50oX2rEBawoWRkFKNX+mEAHIoAktxDbICucUXkII1n5GMuMMY0AU1SxvYa/NUd3+RKtlau0NxZx3Q5mJkd5dIba3qOU9j6ANX4P5EcJzSJ+7OiCidF3VFoELI8IX8djKmAZtT/ENob8FfVS26s2IjEWKl2DQ0BMDPzfgzUw/ncZfTFiA3s1AOUOVqm0DOwUMZGAJV5PxyBnir0LCGNPTDymIYAkKqA3j/NEUYFIAItjLCvEkvO8OuHuPN3Vq3SWLtBbv0HQWCcMXELTIluZYGj6XgUsM3UfVmUPcbZKYGSJIlG9CNsQLxsQ0SOkn1pNAcmB2MEko4dhqI9TnBKjLbZsoKapWopGp94xMSGJdKrnNECWQY0+gUw4Af/vABNxVruTfK4SLYskOqzGUyRMKINPEHbxgi5h3FdAbKUQ8kO5TRniCmFoqWRaZoAddTF7m3jr12ksXqC9dIFwZx7HbWAQEhkW5KvYI/vJTd2napkbO4g1NEVkldSDJVMSwES6OgSx3N9X1Y8jByPOYpPHtgpYRlYlTc1P6uXuLHgqZQpYaohSabsbMMuwBoAFiYQNDNkAHtX9u/R/4ElT6RHbEePiBh3a3V3a3R3coIVlB2SyJpmsjW3nyVgjZM1RDGTQYBlCKdrQWqG3fIXG/I90ly5iNpfIBR0c2yAybHy7iF+cwBq7h/zeByjPHCEzug+cIURGxWaBRxj36Hk7dNw6ftAnDEUSsmSsMvlMjUK2Rs4pYRmZxIvLz+62NmrTQjGsifEfSM1tJ5WcbxqyCCphfnLibcAGhvIuwAbSpQ5SJEskLNTBtvs7bNdX2a6v0OltY1geuaJNrpghlylSzE5QdKbI2SUc08YxQgy/SbizSGfhIs25H+kvXybTXqMQd8k7NrGVoRtnaDtVotp+CvsfpHrgAfKTByFbwYvB8/sEUR83bNPorlNvb9Bze0SB0I4ixdwo1fIUtdIkpVwNx8wnPC1hE7e1KeFHd2zZwJ4ntvw2ephGJgEsjry/B0yNZaKOd7/US8cxoRK+EMuO1XY0u5usbs2xsnGT3dYqAR2yeYO8AJYrUMyOUclPUS2OUsmVKVomhtvE31ygPXeZ1twFwtXr5LpblOiRdxxiK0srMKkbBfzaLKVDJxi+9ziFqYOE2RItv0ejVafTa9L1m9S76+y2Nun2+8SBTc6uUqvMMDlygPHaXiqFMTJmkTiylVxbQq7NO44s8ZyppN3FDu5Im0iYaIi+BoClEqVgCWgp30tRS7x5hBf6auRtR+7q0upvsbJ1g4W1q6zvzuMGDaxsSDZn4NgZsvYQQ/lxxoYmGa+MUsvmyfg9vLVFmjcu0Vu4irm1SLG3SzHuk3NssLK0A5MdI4dbnaF06AFq9x0nNzVLz7LZ6jbY2tmg3tqm4zXphk26bodu3yMOMxSzo4zV9jIzfpjJ4QNU8uM4RpEotAkDmZ1BxjZTL59OUB1YQo8GlOoOqboLsAgvlSWhAAkpVYZ7V2yo4imAxRGu76oLdzIxpuXT9rdY2b7B3OolVrZu0vV3wOpj2RLnCV/KUsrWGK9MMD0yxUS5SjkGd3WZxpWL+Mvz5JqblPsNCqFLxjQx7SzdyGLbzNGrTlI8eJTqkaNY4xPUY5+V+gYbO2vsNjZpe00iJyI0DfpuTBxmKeXHmRzZz96JI0zUDlLOjGFTVMcjFsg2LLKOiSVSlqpnon1ilwegDZxAYttMcomE+bGbGEGNCZPQQoyjgCegCW3Ri6mWikqKG/fA9IiMfgLYznXmVy6xvjuHFzexMj6R6eK7PczQpOgUKToFavkqM7UJZkpVwvVNNn/6EWNjnRGvR9ltYffaGEGI5eTwrTx1p0CzWCOz/yDlQ4fwKiXWenXWWhv0/BZ9v0mj3yK0ILKz+IH8T4FyfkLVcc/YYcYr+yk5Aph4a4c4tDQecMw05tS5D/jkgPWLZ0g5aSqAtjqtOI57US+JvQy5gLjOFLA0K6HOIA13hEpEhISGS0yfkC7tYJu13ZvMr15ibecWXtTAyonc+wR+VwFwsHAik7JTYnZ4mgPDkxhbDdZ/vIC1scVY4FPxuti9LvgBhpXBs3M0FLAhMvsOUDy0j27BYbG9wXp7ndDoEtCl5XYJbYdYvGpgJ4DlEsBEJcdK+yjaY1iUE06WklkNbe+y1Amn/P8HLDMArBm2NYA2Dck8iHYnoN0JCNOUTSphyrvoK2CR0aMX7rDWnFPAljeu0/F3FLBMLsY0feKgT9yX9E1IyS6yd3iGA8Mz2Ds9Ni9exVjdZMT1qHku+TDACCVXYtLBounkaZeGyB0QwGbpFi0W2qust1bxjZZKeC/0IFMCq4Tr2cRBjpJI2OgBZsYOM1rcR8EUwEqYMmmloCJlhjKJQcQkvE7E4W6V1ARCGgXlBirZjDpJ1kEBS4JXASyJk5WppsxMLihUwlNWHZsusdFXidruLDG/foWF1SvUO+vEVp9MwSCbjTFil8DtEvd9ClaB2doeBSzbCti9fJNgaZ1yu0vN8ykro9ZMF60wpm5l6VarFA4eoHBghnYhZqG5wlpzGd9oJFIskzQLhJTwvQwWRSqlSSZHDzE1cohaYQ85s4ZJAYMcZizs39G5DuyX2uvb4dwgT5basPSk/G0Ji1OVVHKmGS7MWP47cI+aB0oSfRICCVkkAcswhTi2abjrLG+JHbvCxu6iciMnF5PLG1iWj+91CfsueSPPzPAe9g/PUOxB+/oivbkVsrt1Kp5PzbTJWhnNPDSCkF3LwR0eoXjwANm9EzSzgQK23lzCp47pBMSmQRjlCIICxAVyTpVhoRSjBxmvHmAoN4ljVBQsIbQiZRoySTSRusGBIqqESVIhjXsSapqQ2YKqcxzHLSQGTKVIk38GluaUkoyQedtdyroLI5ZQSn7TwzCEkvTpRbtstBZYWLnCysYcze4WkemRycbYGYm+XPx+n6yZY6a2h721aaq+hbu4TvvGIvH6BkOeS82wKGYLRKZNI4yoWw7B6BiFAwewpoZpWB4LrWU2Wiv4UR07I/bOwvcsAi9L1qlRLU8yMbKXidEDDJdmyVsjmJQgFqMtKpnV2NKQLMpdweBAGZMsjOZe/o64FgahUQNh+lEiRZprEmInaeABYKKaEoRJ3CY0OSCOXeKwi2G6GHaAb3RodlZZ27zF8votdhsb9CUbYfqYGQiNEM91cYwcU9VJ9lQmGCFLvFmnc2sBf3mJYq/LEFDI5MHJ0AyhnclhTEyT3buPoFZihz4r7XV2Oht4UR0nE2FbJkEfIs+hXBxjfGSWidF9jNT2UsxP4BhVjLhAHGVAYsxBMG46tzMUaVx+m7IKQxDxUIuUgioKrRJWl7SMhvGxSpOm3+Ikq6lZ8kHaMpLzJIUTEId9Yr+tKmlkImLLxXO32dldZn1rkZ36Ou1eHTfqE1oRvhHjej62mWW0NMJkaZgJO0+206M7v0h/YY5su0khDik4ST6/E1v08yWcmf3Y03voFrJsBl02uju03F28qEnGCclYJvRjzNChNjTO5Ng+xkb2UhqaIuOMYIh0RXkFS4NyyZXJKpqWJO9STmGm0pRkJ5IUdRJ23gEsTVHXBx/HcpoY3TuHIZIl6RwBS2NOoQtiIT1wW6qOZGKwfaKgidfdotXeotXdpdtv0nY7tEKPVuDRc30drIRHtUyeyUyRahjgrS7TXbiJ09wh4/VwpBhg5+hLsFwZIb/3MExMs2uZrPW71P02bixxZBvb9MnbJnksCmaOanGY4eoU5fIkTn4U0x6CuAhhLk0BZhOwlIWnXEnuZ1kJgGaSaRUkBKzbnD+GwiCn30gFUaRLTrfTQ5OzEnj5HgRCC0QNJZUSEAY94n6TWLKmttg1nyhsE/pNoqinxNaL+nT8Pu04oh1B25VzRCFschGMZ3KM2xBsrtJduonZ2MLsNTHCCOwsgZ3HHJmifOgYjEyxGYSsdjp0JLOaFXPcx8KjYEu+3aQQW+StPLlMGSdTUbAMs4yh3rGAYRUw7DyGncOyJEeWgiQSakk4ZoMptQFLnY7YMAUtdQy3ARM5GaQ7ErAE3wAzBSuW0le/C16HyO3ieT3cXpOw1wQBTMCKPYKgo+keiSHzBUfFtBeHuE4WN5Oj40e4bkjkhsTdPsOOzXTBIdpdo7N8k6i+QdjaIZYFkjJbtkx2YpbK4RMYtQnWO33WW1082yRXymKaHmbcp2CGFMIQpx9geBFRYBKFonp5DKOAaRYxrSJmpoSZLWFlimTyRex8EcMR9bTTsl6iqrFlaz5uIGWyfvIqivYmXjLN94hmGQJYiBl7GH6fuNskaO4QtLaJu3XCbp1+c4decwu/11BbBilgkvWwIk3rFIp5sE1c08SqDuMMT+CZWYLQROKY0A0oORmGcw5Rc4vW6hy93VU6O+v4bh8nk6MwVKM8tY/y/qOYxWEa3T6Nbo/IFM8rVqJN5DfJBD3MVou41SbqeQReRBhIpjcLRg6sPIaVx3QKmE4RK1ekUBulNDqBUxzCzBYwMkVQZyPjzhGZWc25Sa5RLLcImXBEBayRsl0x8I4CJmy7pwAFu+v0t5Zwt5eJWhta4YnaOwSdHUKvBWFPvacQWmXEtomTy+Bkc4SmAGZhDCWAxbkypuTEnDKWnSdXKJPPZon7bdqbyzQ2l9jaWKLf61Aolhgbn6Q2vY/c6CymmcVtd+h22/h+j0jiyN4WkVsn43cxOy1otcELiIJYk4hJjTFDbGY1v4aVI7ZyCowzNExxZIp8bZxcZQy7PIKRr6hU45SIrLwWjwP1lonxrwwA2xYTBGQMOWJswwdJ8O2u0lu9SWPpKt21G8TNVRx3l0LcIScpZjnCPoYmmIxEvG0RZ1srO25k0MOka2cIcmWs4jCFoUkqw7MMjezBqU1AXvhRjNvYYmNtjoWlm3S7LarVKvv3H2B0ai+GhD0dl7hRx2vv0q2v09xeoF1fAm+HfOySC3wyfohmnNTzJV5PQJNiXGjaBIYjlUw8I4Nn5bAKw5TGZ6lOHSQ/tg97aBwKNchViOwSoZETw5SSLqgOqkabokkmZPWIsaWY0d+lv7VIa/k6zaVruJu3MNrrZP1dClGbXNwjg4sT++pPNJNkmoSGvLszSM+0FTT5K6uXKYySL89Qqs6QG92DMzKJUSoThi6t+gbr64v0e20qlQpjU1MUh0ZUJ/zNbXorS3Q3l1R13fYqsb9FwepTzhhkxc74IUYQac5OVEkLGVI4NjOEVobAdBS0Pg7twCCwSwrY2N77GJo6iFObxpBKe6aigXwgJkT1LVFJ4Yiqkltu4lUdKb+LhAll6O/S216mtXJDQetvzkFrDcfdUcDy9MkbPlkplyF1wWSQfiTzMwlNyR6IKti4UaiH4RSwsiNY2XGc4iTZ4RlyE3txxiexilm8oEezuY3v9Sjm8xTKZS2Z+fU23aVl2otzuFtLRJ0NDH8bJ96l6LgUHQsztoj8mCiUqlZMqN0MFoYl48gQmhl8w8LFphdbdHxTARua3MfYvvuozhwiU5vWtgScMrGopKm19UEJQNhcasOEvGscGWmHggiu4bXxW9v0thborN6ivXaL/vYCRnuDbNihZPgUTJ+sqaaRKArxwwg/kNSiqaGN1BZNYeGhSxR62E4eOzuCb9ZwzQrkRsiP7aG8Zx+5qXEo55MWhUgiihgj8PG26zQWV9lZWKC/tUrWbVA2uxSMFna4DcEusS9VK5NQcl0S8lgOpiNHBsNJ7JeHRS+EThDRDSxCu0CuMk51ej/DM/dQmtiHVRmH3BBYBTBzhCpdYmISp3i78t3VzKrET9INE0jJFVs8n9chbG/jbS3TXZ+ns34Lb3cFOjs4QYdc7Cm4pvY3RISqClLxMYl10FlV9TjoaWeOLattDdGNy3TjIlFuhOLkXkYOHKK0dwajWiTUOFVKcSb0erRX1ti6tcjuwiL+zgZ5v82w4zJk9ciEO8TeLr7n4kkLgZVX7yb3lvhSq+2WSJej6ugbNp6AYOXIlEcYGt+jR35khkxlHCM/BLaAlU0cBdIxJJwsUcncwOhLGK3FjVBixCDpg5GoQY1Hh7i1jbu5QndjXm1If3eFuL2LFXSxhFZIPkrDpiR1KQNVwCw74cxBDzvoIXW9gCKdqEDXKBGVRilP72f04EFKe6aIyg7dyNUiSy6bwXQ92ivr7C6t0VxaJdzZIttrUKFHxeyRj5vg1/F8D9fI4jslQiubcCjDVMcjKiWgxU5OOZiRK2IWhiiNTFGd2qte0irW0nxaDqShxRCPKoClJDa1YZkBD3O1vUXskDB7aSgST5lEVFIkxesStXcJm1u4u+t0NhZwt1eJug0it03gdogkEtD2gaRDRwYtVzCjgEzoIv7GMS0t9XtWhagwjD08SXF6D4WZaYxqjnbUYaO5ST/0qJRKGlOaXdEjj2C3hb+xhbe+jFHfJOc1KdIma0jWN6JvOPSMHJ5IlDid2MCLUKmKnTyZYoVCdYzi8DjZ2hiFkXFy1THMQkXZvzQCJB1Jwv4zGJaEUFLXSNP0coadBt+uUAMtOUlCLekP0t4JiS0NIbE+hmRN3Q5hr4Hb2CCobyQgtsXVN/DkO18I7CANZyh+Ei1k4oCCeGCxadkKcXEEhkawqiPY1SHCUoYmXTa7G6zsrNLzuhQKOSqFMsPZCiO5KoUwQ7DbxltZxV9fwWzvkA1aOJHElAH92KAnqieSIelq0yGSw85h5kpkyzWKtXHyIxM41RGcQkJYhagaEltGpo5Xahmm5YAcaUYwyW7FWFJlEi/p+i0sy8IUQy0mPBLjHRKHofZISPOIJV0ypGkdtw3dBrR3iRo79Bs79BS0LkEgjSFp/6KkiGJpQzHI2w65fFFth1kbx6gOExcLBKbPjtdgubXMUn2BtfoqHSmGWCbVUoX9Y/u4Z+oeJorTGH2I13dwV1cJd7cxew2VfgnV+mGIL5ItUpnJYWUKCoiAZReGyJRrZIeGMSsjIFIl9jQyMCTFI4fY3kjSWxJ/20mcqaWypHQmdtWwpGdDOhD9enKSXETcs9ADdc9JJ45lGdhSYYkDgqBHT6Vql7jbIG43CNp1+p0mnsScUlazbTLZLJlMBtt2yGYKZDKFZHASngxVMSplJD3VdOust1ZYbMyx1lqg3tvS1gMpzxWzJWZHBbCj7KnuJx8VMJsBNDrEnQ6G1yP2ekpDwkikOzErsrRitwy5Z6ZInMkTZwqQK0JW3he0KuVkstjqmESaEkOVdJiljV2aHxzUGiUhkLYK+P0trNSrRbGFHxnCAZOOlaR3ib7r0Wk1aDd3aNW38XtNbOkglDDF7agdC6ReKVVS0XfHoVAoUK7UqI1OURKXbTh03YB2GBNkDOySRWD12eqssrRzjc32Io3+Jl6Y1BjymSJTw7Mcmryf2dphcnGR3lYPd7uNE8FQMU8+axNKb6zfI9asbo9Op0e906PZD5SoWoUh7OKQqmcvNHDDWOuepaEKlcowlaEhCrmszvV2NVGlLckPDlrAJIpJymyNZZxsHitbUM/Q92MloHbG0qKqF4QsbWxz4/p11hbnae6sa7tlOWeTd0TyfIzYJ5bcVr9Pp9MmDEPK5RLTs/s5cN8JpvcfwbZyrK1vcXNhiXqvQW2qwvhslba/w/L2VbY7i+y2lnD9NtlsjkKuzMjQNPsn7mdf5QgEDreuLLM6v0YlX+LIkXuZnp4Eqav22xqT9uo7rK2uceXWAtfnl2i6AeWRSUam9qjx36q32a43NSIZHZtg//6D3HPoANPjw+RtqZilPSlhhBnFONogmGYnrLR7p19fwc7ksCWXbti4IbjCljHpdfssr29w8co15m7dxOt1qZbyTI5VGa2WKGRMpXeWdL/EIc1Gg+WlRTY2N7RjenrvAY6deJyD9x0nkytyY26Fv379HXOLc0zNjvHIz45RHDLZbS9Q7yyx3VjE9VrksnkK+bIWM2bHjjGW289uvcsXn33HpQtXGKmO8Nyzz/DAsSMamRh+B8Pt0t7dYX5hka+//xtffvcDu12Xffcc5f6HHqNYHWVzt8ny2jqLK2t0un2mJiZ45OGHePj4MWbGhrURxhbUUsAkTT+oVUpDs0qY19q4o5KmdI6a9MOIRtdnbmGFv126zOUrV2i3WoyOVLn30H4O7p1hrFoiZ4t9k8a2pLGuUd/l5q2bzM/P0XNdRidmOHriUQ4feRAzV+DC1Vuc/ug8Fy78xOTkCC++/DSH753GsNq0uivUm6v4fodsJksuV6JSnmJ86CBONMyNhWU+/PA83//tAuNj47z5i9d46vGHyQrXi3rYvku7Ifef5/wXX3L6/KfstPsK1skX/4GJ6VkarS5Lq2v88NNFLl26rIH6Iw8d56VTJ3nw6CFGy0WtiBvS4ThIzSddxTjOoBnFbyuNiISH2FlM26EXRNxY2uLMp3/lk88+Y2t7mwMH9vPkzx7nkRMPsGe8Rjkj/aRJiX3QaywNISvrKywsLrBTr5PJF5g9eC97Zg8iDeY/XLjC6T+f5buvv6eQz/HyC8/w8ktPMjtToS/xq1vX/JrQOXEUhewIGavKVt3jq29/4vTHn3L56jUmpyf59W/f4LlnnqBoWUhDuhMG9Dod5hcXOffZF3x49hz1do+HH3+KV954kwOHDqlT2G52+PrbH3jvvfe5duUKszPTvPnqK7x46mn2TY2RNU2VMiuS2FRCNemdlfGkgBF0CULpJJQUTQ7DtNhodPjqh8u8+5cz/PDjBcqVIU4++xTPPP0E9+zfw1AhS8J8pY4nyhtjGVIfDGm0G2xub1FvNjT4Hh6fYGRknI4f8s23P/L+2x/x7Zc/IJ3fzz75M373m9d49MRBDMMnjPra5Ku9sHYG28zjujaXr63y8SdfcO6zz5lfmmd67xS/+w9v8vJLJ6nmCkl0Ig0ursviyiofn/+E9z/8iO16i8eefJo3f/0bjtx7SPlmq+9z8cpN3nn7XT49f45SPs+v3niN137+Igdnp3AMU22X+E4RJDX+ptRXBx2IYT/hXUJdnRxeGHF9cY2/nPmUd/5ymrX1TR56+CHefPM1Hnv4GCOVYkI30vgzkmBZ6IRpYZmWtkO1e11ava4mfnKFPMVCiXbf5fPPv+WP/9f7/PD1BcJeyIljD/Iffv9rXjr1CEMVaa9MO7HVx0vgbrC94/LXry/z4ZmzfP7N16xtrTCzf4J//Odf8dqrLzJWrSEJaWkACIKQ5bUNzpw7z1vvvsfmzi5PPPUMv/397zh25JDGthKE35xf5f33PuD9d9/Vytiv33ydN155mQOzU5ixoYBJNcoQwKSKpo0rgx7XyCPUTmoTwzLZanX58tuf+NO7f+GTz78kVyjwyzff5FdvvsLemVEcWyrjKQ+OQ8JIym4BlmViW1IVMPGiEC8MCSSgt2Icy6brepz9+Ev+/f98m+uX5wh7MdPj07z84ou8+spzHDw4SbmU9tOm9cBOJ2ZuYZsvvvqRTz7/gh8u/Mjm7hqTe0b47R9e5403X2ZmYhJb2ynFVkesrG9x5ux5/vT222xu7/DkM0/zj3/4PQ8eTgDrhjHXbi7y3rvvc/b0GUrFPL958xe89PxJZsZHtFQk2pKxkvZ6AU1Qy4oXTRrqZNJJ4Cw5rYW1TU6f/4K33vuAH/52ganpGf7lX/4Tb77+MrWhrF5Qy3FqvyRhFyShlClCIVtbpIwCvgT08r16UZNOt8df/nyO//t/vMfOZgsjlJ4em3sPH+aFF5/hZ088wPTMkE5KJNj1IzY2ely7vsKFi9e5ePkKl69dYXVjkepIgVffeF4BO7h/HxlbTD8EYcTq2janz57jrbcEsG2efuYp/vCH33P8yD1q0Nt+wN8uXuGD9//MpZ8usGd6ijdeeYXHHz3B8FBJN5bI/eVcbSoUcxXFFLIpD9OCpcQLKHdIAAAVHElEQVTdhvSNhly9ucAHH33MB3/5iKvXbnLw0EH+23/9V9545QXyjnpcBUvEVtvL0w1S0huqtfI08BbuG6Qd1yKR9WaTd989zbtvncaI8+SyJbY2t1UyH3/iIV559RRH799LPpvwoWbb49atLa5eXWB1dZvtHfGAt7g1dw0nG/HMyUd54xcvcfToveRzeU30eUHEyuompz8+z9tvvc3W9iZPP/0U//iH33L8yGEFodHr89W333HuzFmajSYPHDvK8ydPcvjgPnKOo+AI208EQiqNIUEYU8qlgEmDbSghhWHg+iFXrt1Se3H23HmuXb/F7Ows//X/+M/88rWXKDmJFAr4onxJRkO6EgZsJenISCJPQ72SeFJxKovL67z73hm++uonpib3UakOc/naVRYWbzGzb4xXXnuep559mInhYWX6azu7XLo4x41ry9hGgVy2zK0bt/juu6/pdRscP36Y115/gccefZBKuai5dzeIWFzZ5MyZc7z91ltsbKzx6GOP8MtfvMGRw4c00SnAX7l8iYW5OUaGh3noxAmO3Xsvw1Up+srGsUhNjqMhobgz8ZaQdVIb1tMuwwQwkbDL125x+uOzfPLJZ1y9dp3pqSn+9b/8Z379xiuaP9ftLwKLbG6QQzcJpCX2dHtMUgRNtp2IJHZ6fX68dJO/fPgJSytbPPDgCcYmJ/jy26/59IvzGBmfF15+ipdfPcW9hw7p9peF1RW++/YSc9dX2TO5n4Ozh7lxbY6zZ86xsbbMoYMzvP7685x85hFGakOSiKLnRywtb3L27HneffcdVleWOHr0CC8+/zyzs3vodFqsra6ytrKEY1kK1sMnjjMxOobj2JqxSCr9iaF3xD6kH2XtNEXdTT+QxgvxMlduzPPRmbOc/+RTLl++zMTYGP/tX/+V37z5GqVsuptDq+KBXly9h17YTLusU7nTfjOUfgjD/uTLv3H23NeaYDz10kmm9kxz+pPz/Psf/52VzVs8+tSD/PJ3r/GzJ54gZ+W5Pn9Lmb0A9tgDj/Hk4z/j2sUF3vrjB8xdv87M5AhvvPE8P3/xSUZHq7oPpO9FLC9v8sknn/LB+++zuHCLvbN7eOSRhxmuVVlbW2FxYY5+t8vRI/fy+uuv8/D99+M4sr3ndlcqYSit9UIlkv44wbAwkLBOWgoXchaGEfMrG5z75DM+/Ogjfvzpb9Sqw/z2N7/hF2+8yvTEKBnb1qA0SWkn/EtTyqkKasUmbQGVa4qELW3ucPr8X/nq65+ojgzzwksnmdk7w5fffs87H7zL3y5+R7mW4+lnn+DUC6cYGxnnwoWLfP/tRUq5CieffoZ79h/g6sV53n7rz/z0/Q/kcw6vv/o8v/nly8xOjitgvi9Gf4ezZz/h7XfeZmV5kaNio049x9jYKEsL81y6eJHFxQVqlQovPH+KZ596munpKTIZW01H4Etay8RxhCYZ6kh8P2Y4n3rJQU5/kP7ZrDf469ff8t4HH/DV139V9E+dOsXrr7/G/UePMFQopH39g+7idGfuXRu47t6EI4DeWlnjvQ/PceHSNfYfOMALLz3LzN5pLl+9xblPP1G13Nxe58ChfZx87iSze2a5du0GSwurPHD0AZ57+kmGhoa4emmO99/7kC8//wLP7fPzfzjFf/rDr7hn7x7d7CCSsbq+w8dnzvOnt/7E2toqTzzxGL/4xevqDZeWlvjhhx/5/vvvNNS7//5jPHfyJA8+8ADjo1p51C4jibgzjq0SJtf0g5ixAWB9KYeHA2ph0nX76sIFsDNnz1BvNLj//vv51a9/xamTzzJeq93pZtdaQEQshlLslWWrsRRJDiNppEtasK/OL/DHd97j1twiJx46walTzzCzZ1Ind+HSZc6e+5hvv/1Ws5oPPvigAtbpdMnlcpx85iQP338YL4q5euUmpz/8mPPnz7G1tcXzp07xX/7lP3LsngPqjGQs62s7nD5zVgHb3t7h+VMn+af/+FsOH9zP1k6THy9e4ezHH/Pdd99quPPII49w6rmTnDh+lGqxQD8IcYMkvyXzkcqXeMvaQCVlZVw/0KShZUseO2J5bY3PvviCDz78CxcvXaRUKvP0s8+qaB+55xCVao1cNqv2S6tFgYixQdayNK8k77vdnm40sDJZbiws8v/86U+sb2zy3HPPcfLZJ5kYH6HZlmzIOp9+9jkffvghq2urDNeGmZic5MD+/Tz44AM8fOIEe8aHdSJz8yucO3uOjz76kOWlZZ5+6mn+93/5Zx46dq9OyvdDtWGnz3zM2++8w+7uLs89+yz/9E+/54Ejh3C9gPmVdb759ns+/+xz5ubnyOdzavwl9Hvgvns1LSWL7eliW7rRTI7yoAjix2IsfQLZaWY7OBY0uz2uXr/ORx+f4dz582xubbFn7yyPPfqYGtCDhw4xNjyivEVecgMBTOyVkFgBq75Tp93tkSsNMb+ywh/feotWu82rr77Ks089wWh1CC+KaHddvvrue/701lt88803eJ7H5OQk//Dyy/z85y9zYO8e3R0i525s7PDJ+U955923uXHjFo89+ij/2z//E088/CA5y0oAWVjl9OmPef+D99jdrfPUk8LDfsfD9x9RuyRNLfPzy/z1r19x/pPz3Jq7xfjYGCdPPsupk89wz75Zsvk8vhZAzCTjrC1VqZd0/YSRyxKZYrzTILrZavHT5ct8fO4cX3/zDVs7OwwP1zh+/DiPPvoo9xy6h7HhYU3FJBsDDA2R2q0225vbbG9v4wcBleFR1re3+fNHH6nqi2d64vFHGalIG7g42pjLc/O88977/PkvH2pmRNj/7377G1588RS1gnRIJ3nPbrvL+U8+57//j//OpUuXuP/Y/fzhd7/jhWefYrRSptf3uX5zidNnzvDhR39hd2dXVe6Xv/oljz18nEpZ9m1G9LouN+bm+OjMx5w9d1bP27tvH08/9SSPP/ooB/bvpTA0lEYuyYb/24D1vXTvo5lQUPEKg4czbO/u8tPFS3z59VdcuXqFbrdLtVbj4MGDHDp4iPHRUc3dS+hjW5ay4ka9roD1ez2NQ2sjo2zt1vnq2280E3Lq+VOcOHGcsWHZlmervVvbrfP5X7/mz3/+s6rtiePHee3Vn/PAsft0X5BogRRG/L7Lp19+xb/9278p5dm3dx8vvfA8zz39FDMT4yphN+cW+eLzz/nss89oNJscO3aUl156iYcfOs7IcFWNuSzUdr3BN9/9wKeffsq1a9fUtOzdu5fjDz7I0fvuZWpmmnKpTE7S15ZsnBlImBep2Mmuf8la9FxP9yLms9KpZ7LdaHDh0iV+uniBxYUFlQDxnFNTk9SqNVVFoRW5rLR1Q7NeV9AEyMmpaSq1mgJ249YtnGxWjf6R++5jYnyMUiGHbRipfVpM1H9zS9n5E48+QqVcVvsqKp/LOIS+x1ff/cBbb73FzRs3GK7WOHr0KI89/Ah79+zR1Pjy8go//vgjP/30ky7wgYP7ePzxxzl67Bhjo6Oah8vYFn4Ysrq2oYlEOX9+fp4gDJiZ2cN9R+7lnsP3MDk5Qa1aUdNz57kVKUkTWyQXETWScMByxONZBIGvoEkgK55pcWGReqNORuyX7Ft0XVXlcrGkn7ndHv1+j/LQEHv2zJIvFhWw7Z0dLMdhZs+MHiMjI1p8EMCl7tfqdHXwjVaTw/ccZlby9aaJL1tppPc54xAFAdfn5vjxbz+yvbWl2ZFyucz05CTjo2Oas2o0GiwtLrG8sqxEfGJijIMHDzA9Pa3URDyvSJkh/Wt9V+3cyuoKS4uL7OzuagFHONv09Axj42MKWD6b0TxZul8y2aWm4VHaoy72TJi/TEbE148jvCDQFVtfX1fvE/gBrtvH7cm2ZYtioUg2k9GCru/7lEolxsfHsaWFXJrh+n3teSiVi9r/JROVcEQ3helO6oj1zU08z9XflXI53DRTIBKcLF7Atqr8pk5WJEoO0YahoTJZJ6NOQ1Sx1Up6K8vp/UrlUgpWRu8rmRVZcQG1026zs7tDfVd29QbkczmGKkMUiyWKRSkTyh7MNKcvhUg5SXRYJEXqihLTKDcLfK1lWrath3rEMNR+BhmY2+8TBoGudDab1d+Kl5TP5FrymdQ8BYxQW6KS7KWsooCcbPqSvJMUjwM9VL1zOf1MFkkkwUlKXCptMk45RxbT83y6sqFLVDab1QUTBxREkpJJwjblUbIoei/Z8icMfrCXarDTPanDyoIIlxvsPxIV1UqSZVDKl9Ino/hSoA0UoMGzFwR1fR8L1UjAkEsLSINnVSRPF0hiriRATW4koOkENVQS75sEsLookpmVVG/K3yRol9SM73s0Gk3lgSIpMinXcxUgaWqRcEykQd7LJASIjLQzGYZKs0i7fGbL5tQ0JSPX1gUUKfJ9BcK2LS0uS2JQ0unyXiRNGnFkbklNVQrQdiIYnqd2XOxxPldIK9+ed5t8SrpP0hsyOQVA0jiOo6Iuk+/3XZUKmZAiL02/4h1FZT1ffyMXl9WW7+UzfSqBTCxIwNYBx8k95PNSsaRquL29q3aqNlzVjScCmIxFpVval+KQQDsMk6KEI5zRdvTevvS2ysOPNKZNXom2JGMbqK8AoWCIgAQhmWwCjtjpBDCxlZnEXoaRapLMVc7LSvOwbvmWLcnag5L0eKnkyCt9CFEiQGKYEzsnYp1IVbpHQvrB5Ldqb8TjWomEGYlaa4wqbcOhn6qXgJ9IsGyQktYmkXDhb6rGuax6RWFeMhmhInJvSYXrc3XSR0HoQ5FExSxTpUdAUGcl4YyZbk9OibRIYbJYIoGSxkoWTzRHJEqur+ootY1YSmrJNcSUJFpj4UjrgSaopVXprg3x2iMqT2RKJUBWUTsJxcb4iY2Ri8nKycWTtPSdB4LIuXKOVip1JZMu0WSXinTJJODKS5rsJH5M7J6ArXlutY2SGhbplusnAItEWrr6Kjn6NKnkOToC3sAByNicjKOSMZiL2rNU+gaPwBHbOPhs8EigwXcDoZFzxD6LqbCstMwmhl0nJBIljb1hqPmibqerdqFQLKqY9t2+Mm0BQ8VYG/BkRa1kYtIBZJn6V64lDF5sk0xeMnIiOTIzCarFpshvJPgdSKqocUba1cOQdrNJv9+/7YTE9vmBPHXFpFAqUSwUtOnXE08p49f7RXhuIjm5fE7bDeQ+4sllTGI7B6Bqo0wmo5RIpE8WShZGNcM06fV6ahdlzPlCQZ2UKX1jqpKpR9EOMSmTiT3Z2mZrc0N5lqRxhSJIqLS1samyKN5InwsWRXox6dYRgyvqIPxNgJPB9Xpd2u2WJhKlM1oGt7WxofXDQr6gDStifOV3cp9arabSJnxvZ2dHVU3sh4AgNk0kqVKpMjI6rPcRNe52OonaR7IYHbVFQiGqlareX+iFqJ44CbmvLHS5PEShkFdHI70gYlcFUEkyFApF5ZlyLaE/whcVtGx+UDVK2jXFOou0yIpIQ4cQOVGpibFxKkMVGo06a2trWn+UicqKC01wxEhKi6X2mJkpYAlnksE0mw0c22J0dATf81helM0LQmzLOkCxJyL2kxMTmqWQ/JmQXOF7MsFsToISdAIiMdXasFa+ZZGEpMqRPCssptls0ut2laCOjI4qvxLOWCwWlVt1ez29piyM8EBZFAF0QHOq1RpyyG/k89HRUSYmJpR827cr36nLl5UVVROxXlleZv7WnF5cUtQSgkiFZW19TaVrqFxOeFocKWB2JnkYkMSiprhqEX8x5J12GiY5TE1NEHg+83NzOqkBeZV7iNQKE5+antbry8TX1taVY+Xz8kQTtNFF3ldrVWZmZ8nnCzqx3d2dZIt1DLv1uoKkff5jozQbLQVfqIpoiYAu5LtWG6ZSGboNmKio2Ff5fHR0TIWj1WozMTHO2Pg4ubxsvxmU2fSxLL6qghhUSQbubO8oaGIjBKxqpaL6noREGQr5vKqc2BEnlS5N5Yph1kqbGOqYXq+jsaUYaUnZCF9YW1ml77ral1UqFjUVJG59uFZjZHRMUysidbtbEsB31YYKYLv1ZNVLQ2UFN5cv6HuZnKiTpJMb9QadbkdVTqRIgK/XGwqg5LnkXgJosVTS96LSYpvFsUkcLRX64ZFhXVAZo4xJzlWSLZ5XOxAlWSZ8KY7IZmTzuKHGXUATaSsXi7o6YiMkRhwYffVQUu3OJgRSWLlMVDmQuG8pxnou7WZDrykqKb8VNRBvWy4VNWDvdUVN+qrmQ5WKAqaxZUPaQF0FTF4iPa1WU+2JhE7ZXJ5ev6tSo5lRKdK2W+os5DflUol2u6OHqJ/MQXik2DzxoiK5Yu8kwyK2W76TDp1qVWytpwDKb0TrxKGIjU56XAMJuCXjFJF1EuMnfER6w8RTCMsWoykEUrlYICFT6iGFVIo6ahE4IX9CJ8Qgi5SJHet12vo7yTzISokHEmmWtInYDrfbTxbCtnUSYpvE64mnlt+rOpimSlO321HeJOospkAkM/Fy4pnR64idUyOfzdLv9VUYZDFyElEEoUptwui13SThlbInqttVSS6VRKKTuFpUVb2v51EopjzMFbIq5WwhdppilvbrWO1NFCTxmHwudinxRpLDl5SjPErGUpulJbowIX+aiJQJiKeU+EwYdByREzshZNAXGpOEUEITNFhPY887MaaB77qJF85kVHpE2mVRBBwBRK4lCyFHwqeExsgmiyTVLlIjbF48raicSorUIFKCq+RW+XnCGRNKAln1ygnd1ihGY0x5llBKK9xB46sE2fr8iiQ21H6JdDuqdLQMYkb9LiWt2q4uZFP7MiRKSB5ZIIPR3WTa+y/SmzxNKSmRJ5xPJyk9WJGw6+Q3t+8hT5IK0gBaJi+TSld9QJIH5FI4lAbwgzENAvrkGQrp5AfBy93zSALvJHJICijaNGQlTxDVcUqBOn3Wo9jhpAMx5fkDT6MlIZGeNDRKtqqlD+FRA5UCmj4yV1ZIckC3n4uULFuaLtKnoSpVGEQGkp1VsOSSuijyeMA0ekhDs7sDeu3YELXRuDWRBpFksY9yH5FcWQxtG0/BkmEmsbCAmUQpg7AtabFPFkCOJJORNp4kuCp4g+hAH5s1yHYkvTt3AqP0qSn6o3RPUnKFFPE7X6TLcvvEwSML0jvq10nIoptD0ngyif/uGuDgEZ/awXxnNQfPObv7Gjr5dLGUsUvDgzSNpPZrcK90BLfBULojZuQuyR4syO2nhN71YLUE7L8Hc/B18oS6//X6n0bg/wW6N9HN0J3gT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30724" name="Picture 4" descr="CMR College of Pharmacy updated... - CMR College of Pharmac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152400"/>
            <a:ext cx="1292225" cy="1143000"/>
          </a:xfrm>
          <a:prstGeom prst="rect">
            <a:avLst/>
          </a:prstGeom>
          <a:noFill/>
        </p:spPr>
      </p:pic>
      <p:sp>
        <p:nvSpPr>
          <p:cNvPr id="30726" name="AutoShape 6" descr="CMRCET HYDERABAD - 2021 Admission Process, Ranking, Reviews, Affiliation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7975" y="3101882"/>
            <a:ext cx="502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Batch No.: </a:t>
            </a:r>
          </a:p>
          <a:p>
            <a:r>
              <a:rPr lang="en-US" sz="2000" b="1" dirty="0"/>
              <a:t>D-CSM-2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539" y="6229290"/>
            <a:ext cx="875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</a:schemeClr>
                </a:solidFill>
              </a:rPr>
              <a:t>Batch: 2022-2026 			                     Major Project –I(A466803)/(A473803)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44" name="CustomShape 2"/>
          <p:cNvSpPr/>
          <p:nvPr/>
        </p:nvSpPr>
        <p:spPr>
          <a:xfrm>
            <a:off x="457200" y="45720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C00000"/>
                </a:solidFill>
                <a:latin typeface="Calibri" panose="020F0502020204030204"/>
              </a:rPr>
              <a:t>Outline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5" name="CustomShape 3"/>
          <p:cNvSpPr/>
          <p:nvPr/>
        </p:nvSpPr>
        <p:spPr>
          <a:xfrm>
            <a:off x="381000" y="1034640"/>
            <a:ext cx="8458200" cy="559476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Abstract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Introduction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Problem Statement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Existing System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Method-1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Method-2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Method-3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Method-4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Draw back of Existing System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Research Objective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Scope of the Project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References</a:t>
            </a:r>
            <a:r>
              <a:rPr lang="en-IN" sz="2800" b="1" dirty="0">
                <a:solidFill>
                  <a:srgbClr val="000000"/>
                </a:solidFill>
                <a:latin typeface="Calibri" panose="020F0502020204030204"/>
              </a:rPr>
              <a:t>	</a:t>
            </a:r>
            <a:endParaRPr dirty="0"/>
          </a:p>
          <a:p>
            <a:pPr>
              <a:lnSpc>
                <a:spcPct val="150000"/>
              </a:lnSpc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/>
          <p:cNvSpPr/>
          <p:nvPr/>
        </p:nvSpPr>
        <p:spPr>
          <a:xfrm>
            <a:off x="457200" y="3574080"/>
            <a:ext cx="815256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Abstract </a:t>
            </a:r>
            <a:endParaRPr>
              <a:latin typeface="Arial Black" panose="020B0A04020102020204" pitchFamily="34" charset="0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85800" y="129528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457200" y="92315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" name="TextBox 4"/>
          <p:cNvSpPr txBox="1"/>
          <p:nvPr/>
        </p:nvSpPr>
        <p:spPr>
          <a:xfrm>
            <a:off x="457200" y="297050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1613" y="1143000"/>
            <a:ext cx="8229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career is a major challenge for students due to a lack of proper guidance and awareness.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career counseling methods often lack personalization, scalability, and consistency.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personalized career recommendations to students.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 algorithms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predicts the most suitable career path for each student.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suggest suitable courses and degree programs, Recommended colleges or universities based on preferences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is especially useful for schools, colleges, and career counseling centers to offer scalable and efficient career planning support.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user-friendly interface and interactive visualizations display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228600" y="4267200"/>
            <a:ext cx="8381520" cy="7548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47" name="CustomShape 2"/>
          <p:cNvSpPr/>
          <p:nvPr/>
        </p:nvSpPr>
        <p:spPr>
          <a:xfrm>
            <a:off x="-914400" y="3429000"/>
            <a:ext cx="1089660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/>
              </a:rPr>
              <a:t>I</a:t>
            </a:r>
            <a:r>
              <a:rPr lang="en-IN" sz="3200" b="1" dirty="0">
                <a:solidFill>
                  <a:srgbClr val="000000"/>
                </a:solidFill>
                <a:latin typeface="Arial Black" panose="020B0A04020102020204"/>
              </a:rPr>
              <a:t>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/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C00000"/>
                </a:solidFill>
              </a:rPr>
              <a:t>Introduction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4478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1447800"/>
            <a:ext cx="8305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planning is a critical step in a student’s life, often influencing long-term personal and professional success.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struggle to choose the right career path due to a lack of awareness, self-understanding, or access to professional guidance.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collects relevant student data, Processes it using ML models, Recommends suitable careers and courses, Provides visual feedback and explanation of recommendations.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helps students explore suitable career opportunities early and make informed academic choices accordingly.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reduces dependency on manual counseling and can be deployed in educational institutions for wide-scale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/>
          <p:cNvSpPr/>
          <p:nvPr/>
        </p:nvSpPr>
        <p:spPr>
          <a:xfrm>
            <a:off x="457200" y="3574080"/>
            <a:ext cx="815256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Problem Statement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85800" y="135780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/>
          <p:cNvSpPr txBox="1"/>
          <p:nvPr/>
        </p:nvSpPr>
        <p:spPr>
          <a:xfrm>
            <a:off x="304800" y="457200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</a:rPr>
              <a:t>Problem Statement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1507153"/>
            <a:ext cx="8153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struggle to choose the right career due to lack of awareness and guidance.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counseling is time-consuming, biased, and not scalable.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choices are often influenced by peer pressure or guesswork.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Misaligned decisions lead to dissatisfaction and wasted resources.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personalized, data-driven solution is needed to guide students effectively.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build a scalable ML-based system to recommend suitable career paths based on student profiles.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228600" y="4267200"/>
            <a:ext cx="8381520" cy="7548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47" name="CustomShape 2"/>
          <p:cNvSpPr/>
          <p:nvPr/>
        </p:nvSpPr>
        <p:spPr>
          <a:xfrm>
            <a:off x="-914400" y="3429000"/>
            <a:ext cx="1089660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/>
              </a:rPr>
              <a:t>EXISTING SYSTEM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/>
          <p:cNvSpPr/>
          <p:nvPr/>
        </p:nvSpPr>
        <p:spPr>
          <a:xfrm>
            <a:off x="457200" y="45720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C00000"/>
                </a:solidFill>
              </a:rPr>
              <a:t>METHOD-1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1491111"/>
            <a:ext cx="80772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Career Counselling Centres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Operated by educational institutions or private counselors.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career counseling centers are typically human-operated services provided by schools, colleges, universities, or independent professionals.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centers aim to help students explore career options, make educational decisions, and plan professional paths.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one-on-one or group counseling sessions.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standardized career assessments tools like aptitude and personality tests.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manual analysis of student strengths ,weaknesses, interests and preferences.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/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C00000"/>
                </a:solidFill>
              </a:rPr>
              <a:t>METHOD-2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47800"/>
            <a:ext cx="82287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Career Assessment Tools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career assessment tools are web-based platforms that evaluate a user’s personality, interests, and aptitudes to suggest suitable career options.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tools have gained popularity due to their ease of access, automation, and speed in generating career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take standardized tests such as Holland Code (RIASEC), MBTI (Myers-Briggs Type Indicator), Big Five Personality Test, Aptitude or Logical Reasoning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test compilation the system maps the results to predefined career clusters or roles.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DD384-DF8F-2C74-54BC-947E9D82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>
            <a:extLst>
              <a:ext uri="{FF2B5EF4-FFF2-40B4-BE49-F238E27FC236}">
                <a16:creationId xmlns:a16="http://schemas.microsoft.com/office/drawing/2014/main" id="{45D5EE9E-EBE2-F0AC-4DA0-F4B4488A0D80}"/>
              </a:ext>
            </a:extLst>
          </p:cNvPr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>
            <a:extLst>
              <a:ext uri="{FF2B5EF4-FFF2-40B4-BE49-F238E27FC236}">
                <a16:creationId xmlns:a16="http://schemas.microsoft.com/office/drawing/2014/main" id="{AEE29855-854C-135A-1BB6-24DE4FBED1F1}"/>
              </a:ext>
            </a:extLst>
          </p:cNvPr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C00000"/>
                </a:solidFill>
              </a:rPr>
              <a:t>METHOD-3</a:t>
            </a:r>
            <a:endParaRPr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17466-CD99-4069-1675-DAD6007F3A42}"/>
              </a:ext>
            </a:extLst>
          </p:cNvPr>
          <p:cNvSpPr txBox="1"/>
          <p:nvPr/>
        </p:nvSpPr>
        <p:spPr>
          <a:xfrm>
            <a:off x="457200" y="1447800"/>
            <a:ext cx="82287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Career Platforms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career platforms leverage artificial intelligence and machine learning to help users discover suitable career paths, job roles, and upskilling opportunities.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platforms analyze user data, behavior, skills, and job market trends to deliver automated and adaptive career suggestions.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AI algorithms to analyze User profiles, Market demand,  Learning history or certifications, Generate career paths, job suggestions, and upskilling advice dynamically.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94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BE83-626F-3D3A-683A-18BBE318D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>
            <a:extLst>
              <a:ext uri="{FF2B5EF4-FFF2-40B4-BE49-F238E27FC236}">
                <a16:creationId xmlns:a16="http://schemas.microsoft.com/office/drawing/2014/main" id="{7BBD88AF-F6EB-2F10-6F09-8F0DC283E8FB}"/>
              </a:ext>
            </a:extLst>
          </p:cNvPr>
          <p:cNvSpPr/>
          <p:nvPr/>
        </p:nvSpPr>
        <p:spPr>
          <a:xfrm>
            <a:off x="457200" y="106668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0" name="CustomShape 2">
            <a:extLst>
              <a:ext uri="{FF2B5EF4-FFF2-40B4-BE49-F238E27FC236}">
                <a16:creationId xmlns:a16="http://schemas.microsoft.com/office/drawing/2014/main" id="{6EB988FB-FF66-98BA-A16F-7FB47AB6860D}"/>
              </a:ext>
            </a:extLst>
          </p:cNvPr>
          <p:cNvSpPr/>
          <p:nvPr/>
        </p:nvSpPr>
        <p:spPr>
          <a:xfrm>
            <a:off x="457200" y="489360"/>
            <a:ext cx="8381160" cy="5774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3200" b="1" dirty="0">
                <a:solidFill>
                  <a:srgbClr val="C00000"/>
                </a:solidFill>
              </a:rPr>
              <a:t>METHOD-4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5AE32-31D7-035D-3C59-B1EDB91F4A45}"/>
              </a:ext>
            </a:extLst>
          </p:cNvPr>
          <p:cNvSpPr txBox="1"/>
          <p:nvPr/>
        </p:nvSpPr>
        <p:spPr>
          <a:xfrm>
            <a:off x="457200" y="1371600"/>
            <a:ext cx="82287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ERP and LMS Add-ons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often use ERP (Enterprise Resource Planning) systems and LMS (Learning Management Systems) to manage student data, academics, and learning activities.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these platforms include career guidance modules or plug-ins aimed at helping students explore career options, internships, and job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into the institution’s main system (e.g., ERP or LMS).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student academic records, attendance, and course completion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include features such as Internship/job portals, Resume builders, Basic aptitude or interest assessments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989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/>
          <p:cNvSpPr/>
          <p:nvPr/>
        </p:nvSpPr>
        <p:spPr>
          <a:xfrm>
            <a:off x="457200" y="2133600"/>
            <a:ext cx="8152560" cy="220080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DRAWBACK OF EXISTING SYSTEM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85800" y="135780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/>
          <p:cNvSpPr txBox="1"/>
          <p:nvPr/>
        </p:nvSpPr>
        <p:spPr>
          <a:xfrm>
            <a:off x="304800" y="457200"/>
            <a:ext cx="853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</a:rPr>
              <a:t>DRAWBACK OF EXISISTING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164" y="1295400"/>
            <a:ext cx="8381160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Career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Counseling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Subjective judgments often based on counselor’s perception, not data.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Counselors may lack domain-specific knowledge (e.g., in-depth     understanding of engineering fields).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quality of guidance across institutions.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Career Assessment Tools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mostly on personality and interest ignore academic background, technical skills, and market demand.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output often the same career is recommended to multiple profiles.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continuous learning or adaptation over time.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specifically designed for engineering domains or technical skill matching.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A95A7-35CB-01CB-5534-C588CDD0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37961B9B-E165-620C-4889-3503CC8D7E0B}"/>
              </a:ext>
            </a:extLst>
          </p:cNvPr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88804-5BDE-7937-F27E-5407F2FE6CFA}"/>
              </a:ext>
            </a:extLst>
          </p:cNvPr>
          <p:cNvSpPr txBox="1"/>
          <p:nvPr/>
        </p:nvSpPr>
        <p:spPr>
          <a:xfrm>
            <a:off x="304800" y="457200"/>
            <a:ext cx="8533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</a:rPr>
              <a:t>DRAWBACK OF EXISISTING METHODS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114E7-CE59-C522-B451-382B40E4FB2B}"/>
              </a:ext>
            </a:extLst>
          </p:cNvPr>
          <p:cNvSpPr txBox="1"/>
          <p:nvPr/>
        </p:nvSpPr>
        <p:spPr>
          <a:xfrm>
            <a:off x="381164" y="1295400"/>
            <a:ext cx="838116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Career Platforms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more on job-seeking professionals rather than fresh graduates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tailored to engineering students' academic journey, internships.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integration with student-level data like CGPA, subjects, project areas,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job recommendations, not holistic career planning or self-discovery.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ERP and LMS Add-ons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Rarely use machine learning or real-time market intelligence.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rule-based and static same for all students.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career prediction or pattern recognition.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institutions to constantly update with emerging careers or new technologies.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26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/>
          <p:cNvSpPr/>
          <p:nvPr/>
        </p:nvSpPr>
        <p:spPr>
          <a:xfrm>
            <a:off x="457200" y="3574080"/>
            <a:ext cx="815256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Research Objective </a:t>
            </a:r>
          </a:p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 pitchFamily="34" charset="0"/>
              </a:rPr>
              <a:t> </a:t>
            </a:r>
            <a:endParaRPr>
              <a:latin typeface="Arial Black" panose="020B0A04020102020204" pitchFamily="34" charset="0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85800" y="129528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7" name="TextBox 6"/>
          <p:cNvSpPr txBox="1"/>
          <p:nvPr/>
        </p:nvSpPr>
        <p:spPr>
          <a:xfrm>
            <a:off x="304800" y="457200"/>
            <a:ext cx="464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+mj-lt"/>
              </a:rPr>
              <a:t>Research objective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1600200"/>
            <a:ext cx="8077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this research is to design and develop a machine learning-based Career Guidance System tailored specifically for engineering students, with the goal of providing personalized, data-driven, and unbiased career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aims to Analyze diverse student data including academic performance, technical skills, interests, and extracurricular achievements.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algorithms such as Convolution neural Networks, and Random Forests to predict the most suitable career paths.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 the limitations of traditional and existing career guidance systems by delivering objective and scalable guidance.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decision-making confidence among engineering students by aligning career options with individual strengths and aspirations.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the gap between academic learning and professional opportunities using intelligent, adaptive career planning tools.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33520" y="4267080"/>
            <a:ext cx="807660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83" name="CustomShape 2"/>
          <p:cNvSpPr/>
          <p:nvPr/>
        </p:nvSpPr>
        <p:spPr>
          <a:xfrm>
            <a:off x="457200" y="3581400"/>
            <a:ext cx="8152560" cy="76032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r">
              <a:lnSpc>
                <a:spcPct val="100000"/>
              </a:lnSpc>
            </a:pPr>
            <a:r>
              <a:rPr lang="en-IN" sz="4400" b="1" dirty="0">
                <a:solidFill>
                  <a:srgbClr val="000000"/>
                </a:solidFill>
                <a:latin typeface="Arial Black" panose="020B0A04020102020204"/>
              </a:rPr>
              <a:t>Scope of the Project</a:t>
            </a:r>
            <a:endParaRPr dirty="0"/>
          </a:p>
        </p:txBody>
      </p:sp>
      <p:sp>
        <p:nvSpPr>
          <p:cNvPr id="84" name="CustomShape 3"/>
          <p:cNvSpPr/>
          <p:nvPr/>
        </p:nvSpPr>
        <p:spPr>
          <a:xfrm>
            <a:off x="685800" y="1295280"/>
            <a:ext cx="7619400" cy="77580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457200" y="10668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3" name="TextBox 2"/>
          <p:cNvSpPr txBox="1"/>
          <p:nvPr/>
        </p:nvSpPr>
        <p:spPr>
          <a:xfrm>
            <a:off x="304800" y="4572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IN" sz="2800" b="1" dirty="0">
                <a:solidFill>
                  <a:srgbClr val="FF0000"/>
                </a:solidFill>
                <a:latin typeface="+mj-lt"/>
              </a:rPr>
              <a:t>Scope of the Project</a:t>
            </a:r>
            <a:endParaRPr lang="en-IN" sz="28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1371600"/>
            <a:ext cx="823023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learning-based system tailored for engineering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analyze student data (academic scores, skills, interests,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ML algorithms like SVM, CNN,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Random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and  Decision Tree for career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user-friendly interface to input data and receive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personalized, unbiased, and data-driven career suggestions.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system’s performance with traditional and online counseling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students to make informed and confident career decisions.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228600" y="9144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" name="TextBox 4"/>
          <p:cNvSpPr txBox="1"/>
          <p:nvPr/>
        </p:nvSpPr>
        <p:spPr>
          <a:xfrm>
            <a:off x="152400" y="304800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+mj-lt"/>
              </a:rPr>
              <a:t>Base paper (URL)</a:t>
            </a:r>
            <a:endParaRPr lang="en-US" sz="3200" dirty="0"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1600200"/>
            <a:ext cx="792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Career_guidance_system_for_students_using_machine_.pdf - Google Drive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https://ijarcce.com/papers/intelligent-career-guidance-system-using-machine-learning/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https://ieeexplore.ieee.org/document/9441978/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https://www.ijcrt.org/papers/IJCRT2505326.pdf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228600" y="914400"/>
            <a:ext cx="8381160" cy="75600"/>
          </a:xfrm>
          <a:prstGeom prst="rect">
            <a:avLst/>
          </a:prstGeom>
          <a:solidFill>
            <a:srgbClr val="7030A0"/>
          </a:solidFill>
          <a:ln w="25560">
            <a:solidFill>
              <a:srgbClr val="3A5F8B"/>
            </a:solidFill>
            <a:round/>
          </a:ln>
        </p:spPr>
      </p:sp>
      <p:sp>
        <p:nvSpPr>
          <p:cNvPr id="5" name="TextBox 4"/>
          <p:cNvSpPr txBox="1"/>
          <p:nvPr/>
        </p:nvSpPr>
        <p:spPr>
          <a:xfrm>
            <a:off x="152400" y="304800"/>
            <a:ext cx="2819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+mj-lt"/>
              </a:rPr>
              <a:t>References</a:t>
            </a:r>
            <a:endParaRPr lang="en-IN" sz="3200" dirty="0">
              <a:solidFill>
                <a:srgbClr val="C00000"/>
              </a:solidFill>
              <a:latin typeface="+mj-lt"/>
            </a:endParaRPr>
          </a:p>
          <a:p>
            <a:endParaRPr lang="en-US" sz="3200" dirty="0"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8710" y="1364812"/>
            <a:ext cx="82287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[1] Brown, D. (2002). Career Choice and Development. John Wiley &amp; Sons.</a:t>
            </a:r>
          </a:p>
          <a:p>
            <a:r>
              <a:rPr lang="en-IN" dirty="0"/>
              <a:t>[2] </a:t>
            </a:r>
            <a:r>
              <a:rPr lang="en-IN" dirty="0" err="1"/>
              <a:t>Sambharya</a:t>
            </a:r>
            <a:r>
              <a:rPr lang="en-IN" dirty="0"/>
              <a:t>, R. B., and </a:t>
            </a:r>
            <a:r>
              <a:rPr lang="en-IN" dirty="0" err="1"/>
              <a:t>Ackfeldt</a:t>
            </a:r>
            <a:r>
              <a:rPr lang="en-IN" dirty="0"/>
              <a:t>, A. L. (2001). Career </a:t>
            </a:r>
            <a:r>
              <a:rPr lang="en-IN" dirty="0" err="1"/>
              <a:t>counseling</a:t>
            </a:r>
            <a:r>
              <a:rPr lang="en-IN" dirty="0"/>
              <a:t> preferences: A survey of engineering.</a:t>
            </a:r>
          </a:p>
          <a:p>
            <a:r>
              <a:rPr lang="en-IN" dirty="0" err="1"/>
              <a:t>Students.Journal</a:t>
            </a:r>
            <a:r>
              <a:rPr lang="en-IN" dirty="0"/>
              <a:t> of Career Development, 28(1), 47–57.</a:t>
            </a:r>
          </a:p>
          <a:p>
            <a:r>
              <a:rPr lang="en-IN" dirty="0"/>
              <a:t>[3] Hastie, T., </a:t>
            </a:r>
            <a:r>
              <a:rPr lang="en-IN" dirty="0" err="1"/>
              <a:t>Tibshirani</a:t>
            </a:r>
            <a:r>
              <a:rPr lang="en-IN" dirty="0"/>
              <a:t>, R., and Friedman, J. (2009). The Elements of Statistical Learning: Data Mining,</a:t>
            </a:r>
          </a:p>
          <a:p>
            <a:r>
              <a:rPr lang="en-IN" dirty="0"/>
              <a:t>Inference, and Prediction. Springer Science &amp; Business Media.</a:t>
            </a:r>
          </a:p>
          <a:p>
            <a:r>
              <a:rPr lang="en-IN" dirty="0"/>
              <a:t>[4] Bishop, C. M. (2006). Pattern Recognition and Machine Learning. Springer.</a:t>
            </a:r>
          </a:p>
          <a:p>
            <a:r>
              <a:rPr lang="en-IN" dirty="0"/>
              <a:t>[5] </a:t>
            </a:r>
            <a:r>
              <a:rPr lang="en-IN" dirty="0" err="1"/>
              <a:t>Breiman</a:t>
            </a:r>
            <a:r>
              <a:rPr lang="en-IN" dirty="0"/>
              <a:t>, L. (2001). Random Forests. Machine Learning, 45(1), 5–32.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0" y="3048000"/>
            <a:ext cx="677159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1430</Words>
  <Application>Microsoft Office PowerPoint</Application>
  <PresentationFormat>On-screen Show (4:3)</PresentationFormat>
  <Paragraphs>159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Bookman Old Style</vt:lpstr>
      <vt:lpstr>Calibri</vt:lpstr>
      <vt:lpstr>StarSymbol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Hareen</dc:creator>
  <cp:lastModifiedBy>vaishnavi gentyala</cp:lastModifiedBy>
  <cp:revision>726</cp:revision>
  <dcterms:created xsi:type="dcterms:W3CDTF">2025-07-25T12:27:25Z</dcterms:created>
  <dcterms:modified xsi:type="dcterms:W3CDTF">2025-10-31T05:10:49Z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F34A31EDC3AE4A68AD56E22E1E288A08_13</vt:lpwstr>
  </property>
  <property fmtid="{D5CDD505-2E9C-101B-9397-08002B2CF9AE}" pid="3" name="KSOProductBuildVer">
    <vt:lpwstr>1033-12.2.0.21931</vt:lpwstr>
  </property>
</Properties>
</file>